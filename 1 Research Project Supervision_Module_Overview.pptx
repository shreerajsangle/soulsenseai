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83" r:id="rId4"/>
    <p:sldId id="288" r:id="rId5"/>
    <p:sldId id="258" r:id="rId6"/>
    <p:sldId id="284" r:id="rId7"/>
    <p:sldId id="290" r:id="rId8"/>
    <p:sldId id="270" r:id="rId9"/>
    <p:sldId id="267" r:id="rId10"/>
    <p:sldId id="264" r:id="rId11"/>
    <p:sldId id="285" r:id="rId12"/>
    <p:sldId id="292" r:id="rId13"/>
    <p:sldId id="281" r:id="rId14"/>
    <p:sldId id="282" r:id="rId15"/>
    <p:sldId id="275" r:id="rId16"/>
    <p:sldId id="287" r:id="rId17"/>
    <p:sldId id="276" r:id="rId18"/>
    <p:sldId id="286" r:id="rId19"/>
    <p:sldId id="277"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06" autoAdjust="0"/>
    <p:restoredTop sz="94660"/>
  </p:normalViewPr>
  <p:slideViewPr>
    <p:cSldViewPr>
      <p:cViewPr varScale="1">
        <p:scale>
          <a:sx n="55" d="100"/>
          <a:sy n="55" d="100"/>
        </p:scale>
        <p:origin x="1358"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C3C71-A420-43EE-A97A-3E6675927FE2}" type="datetimeFigureOut">
              <a:rPr lang="en-IE" smtClean="0"/>
              <a:t>16/09/2024</a:t>
            </a:fld>
            <a:endParaRPr lang="en-I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3258BC-9AF3-47F9-956F-539D7029D569}" type="slidenum">
              <a:rPr lang="en-IE" smtClean="0"/>
              <a:t>‹#›</a:t>
            </a:fld>
            <a:endParaRPr lang="en-IE"/>
          </a:p>
        </p:txBody>
      </p:sp>
    </p:spTree>
    <p:extLst>
      <p:ext uri="{BB962C8B-B14F-4D97-AF65-F5344CB8AC3E}">
        <p14:creationId xmlns:p14="http://schemas.microsoft.com/office/powerpoint/2010/main" val="407895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674D28AB-A73A-4DBA-82B9-EAC77937FE08}" type="slidenum">
              <a:rPr lang="en-IE" smtClean="0"/>
              <a:pPr/>
              <a:t>9</a:t>
            </a:fld>
            <a:endParaRPr lang="en-IE" dirty="0"/>
          </a:p>
        </p:txBody>
      </p:sp>
    </p:spTree>
    <p:extLst>
      <p:ext uri="{BB962C8B-B14F-4D97-AF65-F5344CB8AC3E}">
        <p14:creationId xmlns:p14="http://schemas.microsoft.com/office/powerpoint/2010/main" val="2837790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16/09/2024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514765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16/09/2024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692652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B55CC-BC7B-42F9-895C-77ECBE377AAB}" type="datetimeFigureOut">
              <a:rPr lang="en-IE" smtClean="0"/>
              <a:t>16/09/2024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696917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409B55CC-BC7B-42F9-895C-77ECBE377AAB}" type="datetimeFigureOut">
              <a:rPr lang="en-IE" smtClean="0"/>
              <a:t>16/09/2024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214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409B55CC-BC7B-42F9-895C-77ECBE377AAB}" type="datetimeFigureOut">
              <a:rPr lang="en-IE" smtClean="0"/>
              <a:t>16/09/2024</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54657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409B55CC-BC7B-42F9-895C-77ECBE377AAB}" type="datetimeFigureOut">
              <a:rPr lang="en-IE" smtClean="0"/>
              <a:t>16/09/2024</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759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B55CC-BC7B-42F9-895C-77ECBE377AAB}" type="datetimeFigureOut">
              <a:rPr lang="en-IE" smtClean="0"/>
              <a:t>16/09/2024</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3890387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B55CC-BC7B-42F9-895C-77ECBE377AAB}" type="datetimeFigureOut">
              <a:rPr lang="en-IE" smtClean="0"/>
              <a:t>16/09/2024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2201423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9B55CC-BC7B-42F9-895C-77ECBE377AAB}" type="datetimeFigureOut">
              <a:rPr lang="en-IE" smtClean="0"/>
              <a:t>16/09/2024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68937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16/09/2024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1732041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409B55CC-BC7B-42F9-895C-77ECBE377AAB}" type="datetimeFigureOut">
              <a:rPr lang="en-IE" smtClean="0"/>
              <a:t>16/09/2024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2F30BC68-17BA-4550-A90B-D05F7556F356}" type="slidenum">
              <a:rPr lang="en-IE" smtClean="0"/>
              <a:t>‹#›</a:t>
            </a:fld>
            <a:endParaRPr lang="en-IE"/>
          </a:p>
        </p:txBody>
      </p:sp>
    </p:spTree>
    <p:extLst>
      <p:ext uri="{BB962C8B-B14F-4D97-AF65-F5344CB8AC3E}">
        <p14:creationId xmlns:p14="http://schemas.microsoft.com/office/powerpoint/2010/main" val="811343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B55CC-BC7B-42F9-895C-77ECBE377AAB}" type="datetimeFigureOut">
              <a:rPr lang="en-IE" smtClean="0"/>
              <a:t>16/09/2024</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30BC68-17BA-4550-A90B-D05F7556F356}" type="slidenum">
              <a:rPr lang="en-IE" smtClean="0"/>
              <a:t>‹#›</a:t>
            </a:fld>
            <a:endParaRPr lang="en-IE"/>
          </a:p>
        </p:txBody>
      </p:sp>
    </p:spTree>
    <p:extLst>
      <p:ext uri="{BB962C8B-B14F-4D97-AF65-F5344CB8AC3E}">
        <p14:creationId xmlns:p14="http://schemas.microsoft.com/office/powerpoint/2010/main" val="2491737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4704"/>
            <a:ext cx="8604448" cy="3960440"/>
          </a:xfrm>
        </p:spPr>
        <p:txBody>
          <a:bodyPr>
            <a:noAutofit/>
          </a:bodyPr>
          <a:lstStyle/>
          <a:p>
            <a:r>
              <a:rPr lang="en-GB" sz="2800" b="1" dirty="0">
                <a:solidFill>
                  <a:srgbClr val="0070C0"/>
                </a:solidFill>
              </a:rPr>
              <a:t>MSc Data Analytics (Jan  23/Sept 23/Jan 24 intake)- Research Project</a:t>
            </a:r>
            <a:br>
              <a:rPr lang="en-GB" sz="2800" b="1" dirty="0">
                <a:solidFill>
                  <a:srgbClr val="0070C0"/>
                </a:solidFill>
              </a:rPr>
            </a:br>
            <a:br>
              <a:rPr lang="en-GB" sz="2800" b="1" dirty="0">
                <a:solidFill>
                  <a:srgbClr val="0070C0"/>
                </a:solidFill>
              </a:rPr>
            </a:br>
            <a:r>
              <a:rPr lang="en-GB" sz="2800" b="1" dirty="0">
                <a:solidFill>
                  <a:srgbClr val="0070C0"/>
                </a:solidFill>
              </a:rPr>
              <a:t>MSc Cloud Computing – Research Project</a:t>
            </a:r>
            <a:br>
              <a:rPr lang="en-GB" sz="2800" b="1" dirty="0">
                <a:solidFill>
                  <a:srgbClr val="0070C0"/>
                </a:solidFill>
              </a:rPr>
            </a:br>
            <a:br>
              <a:rPr lang="en-GB" sz="2800" b="1" dirty="0">
                <a:solidFill>
                  <a:srgbClr val="0070C0"/>
                </a:solidFill>
              </a:rPr>
            </a:br>
            <a:r>
              <a:rPr lang="en-GB" sz="2800" b="1" dirty="0">
                <a:solidFill>
                  <a:srgbClr val="0070C0"/>
                </a:solidFill>
              </a:rPr>
              <a:t>MSc Fintech, MSc Cybersecurity,  MSc AI, MSc AI for Business – Practicum Part 2/ Internship Part 2</a:t>
            </a:r>
            <a:br>
              <a:rPr lang="en-GB" sz="2800" b="1" dirty="0">
                <a:solidFill>
                  <a:srgbClr val="0070C0"/>
                </a:solidFill>
              </a:rPr>
            </a:br>
            <a:br>
              <a:rPr lang="en-GB" sz="2800" b="1" dirty="0">
                <a:solidFill>
                  <a:srgbClr val="0070C0"/>
                </a:solidFill>
              </a:rPr>
            </a:br>
            <a:r>
              <a:rPr lang="en-GB" sz="2800" b="1" dirty="0">
                <a:solidFill>
                  <a:srgbClr val="0070C0"/>
                </a:solidFill>
              </a:rPr>
              <a:t>MSc Data Analytics (Sept 24 intake and onwards)  –        Research Practicum Part 2/ Internship Part 2</a:t>
            </a:r>
            <a:endParaRPr lang="en-IE" sz="2800" b="1" dirty="0">
              <a:solidFill>
                <a:srgbClr val="0070C0"/>
              </a:solidFill>
            </a:endParaRPr>
          </a:p>
        </p:txBody>
      </p:sp>
      <p:sp>
        <p:nvSpPr>
          <p:cNvPr id="3" name="Subtitle 2"/>
          <p:cNvSpPr>
            <a:spLocks noGrp="1"/>
          </p:cNvSpPr>
          <p:nvPr>
            <p:ph type="subTitle" idx="1"/>
          </p:nvPr>
        </p:nvSpPr>
        <p:spPr>
          <a:xfrm>
            <a:off x="1371600" y="5636141"/>
            <a:ext cx="6400800" cy="816496"/>
          </a:xfrm>
        </p:spPr>
        <p:txBody>
          <a:bodyPr/>
          <a:lstStyle/>
          <a:p>
            <a:r>
              <a:rPr lang="en-GB" b="1" dirty="0">
                <a:solidFill>
                  <a:schemeClr val="tx1"/>
                </a:solidFill>
              </a:rPr>
              <a:t>Module Overview</a:t>
            </a:r>
            <a:endParaRPr lang="en-IE" b="1" dirty="0">
              <a:solidFill>
                <a:schemeClr val="tx1"/>
              </a:solidFill>
            </a:endParaRPr>
          </a:p>
        </p:txBody>
      </p:sp>
    </p:spTree>
    <p:extLst>
      <p:ext uri="{BB962C8B-B14F-4D97-AF65-F5344CB8AC3E}">
        <p14:creationId xmlns:p14="http://schemas.microsoft.com/office/powerpoint/2010/main" val="747775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70C0"/>
                </a:solidFill>
              </a:rPr>
              <a:t>Module Overview</a:t>
            </a:r>
            <a:endParaRPr lang="en-IE" dirty="0">
              <a:solidFill>
                <a:srgbClr val="0070C0"/>
              </a:solidFill>
            </a:endParaRPr>
          </a:p>
        </p:txBody>
      </p:sp>
      <p:sp>
        <p:nvSpPr>
          <p:cNvPr id="3" name="Content Placeholder 2"/>
          <p:cNvSpPr>
            <a:spLocks noGrp="1"/>
          </p:cNvSpPr>
          <p:nvPr>
            <p:ph idx="1"/>
          </p:nvPr>
        </p:nvSpPr>
        <p:spPr>
          <a:xfrm>
            <a:off x="457200" y="1259540"/>
            <a:ext cx="8686800" cy="2718213"/>
          </a:xfrm>
        </p:spPr>
        <p:txBody>
          <a:bodyPr>
            <a:normAutofit/>
          </a:bodyPr>
          <a:lstStyle/>
          <a:p>
            <a:r>
              <a:rPr lang="en-GB" sz="2400" b="1" dirty="0"/>
              <a:t>Module name:	Research Project</a:t>
            </a:r>
          </a:p>
          <a:p>
            <a:r>
              <a:rPr lang="en-GB" sz="2400" b="1" dirty="0"/>
              <a:t>Credit Rating: </a:t>
            </a:r>
            <a:r>
              <a:rPr lang="en-GB" sz="2400" dirty="0"/>
              <a:t>	25</a:t>
            </a:r>
          </a:p>
          <a:p>
            <a:r>
              <a:rPr lang="en-GB" sz="2400" b="1" dirty="0"/>
              <a:t>Credit Level: </a:t>
            </a:r>
            <a:r>
              <a:rPr lang="en-GB" sz="2400" dirty="0"/>
              <a:t>	9</a:t>
            </a:r>
          </a:p>
          <a:p>
            <a:r>
              <a:rPr lang="en-GB" sz="2400" b="1" dirty="0"/>
              <a:t>Contact Hours: </a:t>
            </a:r>
            <a:r>
              <a:rPr lang="en-GB" sz="2400" dirty="0"/>
              <a:t>	Timetabled weekly sessions </a:t>
            </a:r>
          </a:p>
          <a:p>
            <a:pPr marL="0" indent="0">
              <a:buNone/>
            </a:pPr>
            <a:r>
              <a:rPr lang="en-GB" sz="2400" dirty="0"/>
              <a:t>			</a:t>
            </a:r>
            <a:r>
              <a:rPr lang="en-GB" sz="1800" dirty="0"/>
              <a:t>E.g. 2-4 hours based on group size</a:t>
            </a:r>
          </a:p>
          <a:p>
            <a:r>
              <a:rPr lang="en-GB" sz="2400" b="1" dirty="0"/>
              <a:t>Module Lecturer:	 Check Timetable for your group</a:t>
            </a:r>
            <a:endParaRPr lang="en-GB" sz="2400" dirty="0"/>
          </a:p>
        </p:txBody>
      </p:sp>
      <p:grpSp>
        <p:nvGrpSpPr>
          <p:cNvPr id="7" name="Group 6"/>
          <p:cNvGrpSpPr/>
          <p:nvPr/>
        </p:nvGrpSpPr>
        <p:grpSpPr>
          <a:xfrm>
            <a:off x="3905788" y="4928739"/>
            <a:ext cx="5040560" cy="582427"/>
            <a:chOff x="1336836" y="5445224"/>
            <a:chExt cx="5040560" cy="1008112"/>
          </a:xfrm>
        </p:grpSpPr>
        <p:sp>
          <p:nvSpPr>
            <p:cNvPr id="4" name="Rounded Rectangle 3"/>
            <p:cNvSpPr/>
            <p:nvPr/>
          </p:nvSpPr>
          <p:spPr>
            <a:xfrm>
              <a:off x="1336836" y="5445224"/>
              <a:ext cx="1728192" cy="10081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E" dirty="0"/>
                <a:t>Research in Computing</a:t>
              </a:r>
            </a:p>
          </p:txBody>
        </p:sp>
        <p:sp>
          <p:nvSpPr>
            <p:cNvPr id="5" name="Rounded Rectangle 4"/>
            <p:cNvSpPr/>
            <p:nvPr/>
          </p:nvSpPr>
          <p:spPr>
            <a:xfrm>
              <a:off x="4499992" y="5445224"/>
              <a:ext cx="1877404" cy="10081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E" dirty="0"/>
                <a:t>Research Project</a:t>
              </a:r>
            </a:p>
          </p:txBody>
        </p:sp>
        <p:cxnSp>
          <p:nvCxnSpPr>
            <p:cNvPr id="6" name="Straight Arrow Connector 5"/>
            <p:cNvCxnSpPr/>
            <p:nvPr/>
          </p:nvCxnSpPr>
          <p:spPr>
            <a:xfrm>
              <a:off x="2993020" y="5949280"/>
              <a:ext cx="1434964" cy="0"/>
            </a:xfrm>
            <a:prstGeom prst="straightConnector1">
              <a:avLst/>
            </a:prstGeom>
            <a:ln w="25400">
              <a:tailEnd type="triangle"/>
            </a:ln>
          </p:spPr>
          <p:style>
            <a:lnRef idx="1">
              <a:schemeClr val="accent2"/>
            </a:lnRef>
            <a:fillRef idx="0">
              <a:schemeClr val="accent2"/>
            </a:fillRef>
            <a:effectRef idx="0">
              <a:schemeClr val="accent2"/>
            </a:effectRef>
            <a:fontRef idx="minor">
              <a:schemeClr val="tx1"/>
            </a:fontRef>
          </p:style>
        </p:cxnSp>
      </p:grpSp>
      <p:sp>
        <p:nvSpPr>
          <p:cNvPr id="16" name="TextBox 15">
            <a:extLst>
              <a:ext uri="{FF2B5EF4-FFF2-40B4-BE49-F238E27FC236}">
                <a16:creationId xmlns:a16="http://schemas.microsoft.com/office/drawing/2014/main" id="{504B2A8A-251F-475B-9C65-CF89A0DDB8F3}"/>
              </a:ext>
            </a:extLst>
          </p:cNvPr>
          <p:cNvSpPr txBox="1"/>
          <p:nvPr/>
        </p:nvSpPr>
        <p:spPr>
          <a:xfrm>
            <a:off x="161648" y="4619787"/>
            <a:ext cx="3708136" cy="1046440"/>
          </a:xfrm>
          <a:prstGeom prst="rect">
            <a:avLst/>
          </a:prstGeom>
          <a:noFill/>
        </p:spPr>
        <p:txBody>
          <a:bodyPr wrap="square" rtlCol="0">
            <a:spAutoFit/>
          </a:bodyPr>
          <a:lstStyle/>
          <a:p>
            <a:r>
              <a:rPr lang="en-US" b="1" dirty="0">
                <a:solidFill>
                  <a:srgbClr val="0070C0"/>
                </a:solidFill>
              </a:rPr>
              <a:t>MSc Data Analytics   </a:t>
            </a:r>
          </a:p>
          <a:p>
            <a:r>
              <a:rPr lang="en-US" b="1" dirty="0">
                <a:solidFill>
                  <a:srgbClr val="0070C0"/>
                </a:solidFill>
              </a:rPr>
              <a:t> (Jan 23/Sept 23/Jan 24  intakes only) </a:t>
            </a:r>
          </a:p>
          <a:p>
            <a:endParaRPr lang="en-US" sz="800" b="1" dirty="0">
              <a:solidFill>
                <a:srgbClr val="0070C0"/>
              </a:solidFill>
            </a:endParaRPr>
          </a:p>
          <a:p>
            <a:r>
              <a:rPr lang="en-US" b="1" dirty="0">
                <a:solidFill>
                  <a:srgbClr val="0070C0"/>
                </a:solidFill>
              </a:rPr>
              <a:t>MSc Cloud Computing</a:t>
            </a:r>
            <a:endParaRPr lang="en-IE" b="1" dirty="0">
              <a:solidFill>
                <a:srgbClr val="0070C0"/>
              </a:solidFill>
            </a:endParaRPr>
          </a:p>
        </p:txBody>
      </p:sp>
    </p:spTree>
    <p:extLst>
      <p:ext uri="{BB962C8B-B14F-4D97-AF65-F5344CB8AC3E}">
        <p14:creationId xmlns:p14="http://schemas.microsoft.com/office/powerpoint/2010/main" val="3196987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70C0"/>
                </a:solidFill>
              </a:rPr>
              <a:t>Module Overview</a:t>
            </a:r>
            <a:endParaRPr lang="en-IE" dirty="0">
              <a:solidFill>
                <a:srgbClr val="0070C0"/>
              </a:solidFill>
            </a:endParaRPr>
          </a:p>
        </p:txBody>
      </p:sp>
      <p:sp>
        <p:nvSpPr>
          <p:cNvPr id="3" name="Content Placeholder 2"/>
          <p:cNvSpPr>
            <a:spLocks noGrp="1"/>
          </p:cNvSpPr>
          <p:nvPr>
            <p:ph idx="1"/>
          </p:nvPr>
        </p:nvSpPr>
        <p:spPr>
          <a:xfrm>
            <a:off x="457200" y="1259540"/>
            <a:ext cx="8686800" cy="2718213"/>
          </a:xfrm>
        </p:spPr>
        <p:txBody>
          <a:bodyPr>
            <a:normAutofit/>
          </a:bodyPr>
          <a:lstStyle/>
          <a:p>
            <a:r>
              <a:rPr lang="en-GB" sz="2400" b="1" dirty="0"/>
              <a:t>Module name:	</a:t>
            </a:r>
            <a:r>
              <a:rPr lang="en-US" sz="2400" b="1" dirty="0"/>
              <a:t>Practicum Part 1 &amp; 2 / Internship  Part 1 &amp; 2 </a:t>
            </a:r>
            <a:r>
              <a:rPr lang="en-GB" sz="2400" b="1" dirty="0"/>
              <a:t>Credit Rating: </a:t>
            </a:r>
            <a:r>
              <a:rPr lang="en-GB" sz="2400" dirty="0"/>
              <a:t>	5+ 25</a:t>
            </a:r>
          </a:p>
          <a:p>
            <a:r>
              <a:rPr lang="en-GB" sz="2400" b="1" dirty="0"/>
              <a:t>Credit Level: </a:t>
            </a:r>
            <a:r>
              <a:rPr lang="en-GB" sz="2400" dirty="0"/>
              <a:t>	9</a:t>
            </a:r>
          </a:p>
          <a:p>
            <a:r>
              <a:rPr lang="en-GB" sz="2400" b="1" dirty="0"/>
              <a:t>Contact Hours: </a:t>
            </a:r>
            <a:r>
              <a:rPr lang="en-GB" sz="2400" dirty="0"/>
              <a:t>	Timetabled weekly sessions </a:t>
            </a:r>
          </a:p>
          <a:p>
            <a:pPr marL="0" indent="0">
              <a:buNone/>
            </a:pPr>
            <a:r>
              <a:rPr lang="en-GB" sz="2400" dirty="0"/>
              <a:t>		</a:t>
            </a:r>
            <a:r>
              <a:rPr lang="en-GB" sz="1800" dirty="0"/>
              <a:t>Practicum/ Internship Part 2 </a:t>
            </a:r>
            <a:r>
              <a:rPr lang="en-GB" sz="2400" dirty="0"/>
              <a:t>- </a:t>
            </a:r>
            <a:r>
              <a:rPr lang="en-GB" sz="1800" dirty="0"/>
              <a:t>E.g. 2-4 hours based on group size</a:t>
            </a:r>
          </a:p>
          <a:p>
            <a:r>
              <a:rPr lang="en-GB" sz="2400" b="1" dirty="0"/>
              <a:t>Module Lecturer:	 Check Timetable for your group supervisor</a:t>
            </a:r>
            <a:endParaRPr lang="en-GB" sz="2400" dirty="0"/>
          </a:p>
        </p:txBody>
      </p:sp>
      <p:sp>
        <p:nvSpPr>
          <p:cNvPr id="16" name="TextBox 15">
            <a:extLst>
              <a:ext uri="{FF2B5EF4-FFF2-40B4-BE49-F238E27FC236}">
                <a16:creationId xmlns:a16="http://schemas.microsoft.com/office/drawing/2014/main" id="{504B2A8A-251F-475B-9C65-CF89A0DDB8F3}"/>
              </a:ext>
            </a:extLst>
          </p:cNvPr>
          <p:cNvSpPr txBox="1"/>
          <p:nvPr/>
        </p:nvSpPr>
        <p:spPr>
          <a:xfrm>
            <a:off x="371988" y="4024904"/>
            <a:ext cx="2074246" cy="1200329"/>
          </a:xfrm>
          <a:prstGeom prst="rect">
            <a:avLst/>
          </a:prstGeom>
          <a:noFill/>
        </p:spPr>
        <p:txBody>
          <a:bodyPr wrap="square" rtlCol="0">
            <a:spAutoFit/>
          </a:bodyPr>
          <a:lstStyle/>
          <a:p>
            <a:r>
              <a:rPr lang="en-US" b="1" dirty="0">
                <a:solidFill>
                  <a:srgbClr val="0070C0"/>
                </a:solidFill>
              </a:rPr>
              <a:t>MSc AI                 MSc AI for Business </a:t>
            </a:r>
          </a:p>
          <a:p>
            <a:r>
              <a:rPr lang="en-US" b="1" dirty="0">
                <a:solidFill>
                  <a:srgbClr val="0070C0"/>
                </a:solidFill>
              </a:rPr>
              <a:t>MSc Cybersecurity</a:t>
            </a:r>
          </a:p>
          <a:p>
            <a:r>
              <a:rPr lang="en-US" b="1" dirty="0">
                <a:solidFill>
                  <a:srgbClr val="0070C0"/>
                </a:solidFill>
              </a:rPr>
              <a:t>MSc Fintech</a:t>
            </a:r>
            <a:endParaRPr lang="en-IE" b="1" dirty="0">
              <a:solidFill>
                <a:srgbClr val="0070C0"/>
              </a:solidFill>
            </a:endParaRPr>
          </a:p>
        </p:txBody>
      </p:sp>
      <p:grpSp>
        <p:nvGrpSpPr>
          <p:cNvPr id="19" name="Group 18">
            <a:extLst>
              <a:ext uri="{FF2B5EF4-FFF2-40B4-BE49-F238E27FC236}">
                <a16:creationId xmlns:a16="http://schemas.microsoft.com/office/drawing/2014/main" id="{72D8BDC0-AFD1-6C89-36E2-5F2CC8CD2ADA}"/>
              </a:ext>
            </a:extLst>
          </p:cNvPr>
          <p:cNvGrpSpPr/>
          <p:nvPr/>
        </p:nvGrpSpPr>
        <p:grpSpPr>
          <a:xfrm>
            <a:off x="2533758" y="4248939"/>
            <a:ext cx="5658194" cy="858178"/>
            <a:chOff x="882770" y="5217978"/>
            <a:chExt cx="5658194" cy="1485404"/>
          </a:xfrm>
        </p:grpSpPr>
        <p:sp>
          <p:nvSpPr>
            <p:cNvPr id="20" name="Rounded Rectangle 3">
              <a:extLst>
                <a:ext uri="{FF2B5EF4-FFF2-40B4-BE49-F238E27FC236}">
                  <a16:creationId xmlns:a16="http://schemas.microsoft.com/office/drawing/2014/main" id="{C623D29A-EE85-6D12-E50A-DDC198C43F54}"/>
                </a:ext>
              </a:extLst>
            </p:cNvPr>
            <p:cNvSpPr/>
            <p:nvPr/>
          </p:nvSpPr>
          <p:spPr>
            <a:xfrm>
              <a:off x="882770" y="5217978"/>
              <a:ext cx="2074246" cy="14626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E" dirty="0"/>
                <a:t>Practicum Part 1/ Internship Part 1</a:t>
              </a:r>
            </a:p>
          </p:txBody>
        </p:sp>
        <p:sp>
          <p:nvSpPr>
            <p:cNvPr id="21" name="Rounded Rectangle 4">
              <a:extLst>
                <a:ext uri="{FF2B5EF4-FFF2-40B4-BE49-F238E27FC236}">
                  <a16:creationId xmlns:a16="http://schemas.microsoft.com/office/drawing/2014/main" id="{810E1C3E-FCAA-82BB-C026-547F6ADFA528}"/>
                </a:ext>
              </a:extLst>
            </p:cNvPr>
            <p:cNvSpPr/>
            <p:nvPr/>
          </p:nvSpPr>
          <p:spPr>
            <a:xfrm>
              <a:off x="4466718" y="5240789"/>
              <a:ext cx="2074246" cy="146259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E" dirty="0"/>
                <a:t>Practicum Part 2/ Internship Part 2</a:t>
              </a:r>
            </a:p>
          </p:txBody>
        </p:sp>
        <p:cxnSp>
          <p:nvCxnSpPr>
            <p:cNvPr id="22" name="Straight Arrow Connector 21">
              <a:extLst>
                <a:ext uri="{FF2B5EF4-FFF2-40B4-BE49-F238E27FC236}">
                  <a16:creationId xmlns:a16="http://schemas.microsoft.com/office/drawing/2014/main" id="{EAE1CD5B-6C90-CF5E-3172-5DB35680708E}"/>
                </a:ext>
              </a:extLst>
            </p:cNvPr>
            <p:cNvCxnSpPr/>
            <p:nvPr/>
          </p:nvCxnSpPr>
          <p:spPr>
            <a:xfrm>
              <a:off x="2993020" y="5949280"/>
              <a:ext cx="1434964" cy="0"/>
            </a:xfrm>
            <a:prstGeom prst="straightConnector1">
              <a:avLst/>
            </a:prstGeom>
            <a:ln w="254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999965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70C0"/>
                </a:solidFill>
              </a:rPr>
              <a:t>Module Overview</a:t>
            </a:r>
            <a:endParaRPr lang="en-IE" dirty="0">
              <a:solidFill>
                <a:srgbClr val="0070C0"/>
              </a:solidFill>
            </a:endParaRPr>
          </a:p>
        </p:txBody>
      </p:sp>
      <p:sp>
        <p:nvSpPr>
          <p:cNvPr id="3" name="Content Placeholder 2"/>
          <p:cNvSpPr>
            <a:spLocks noGrp="1"/>
          </p:cNvSpPr>
          <p:nvPr>
            <p:ph idx="1"/>
          </p:nvPr>
        </p:nvSpPr>
        <p:spPr>
          <a:xfrm>
            <a:off x="0" y="1259540"/>
            <a:ext cx="9144000" cy="2718213"/>
          </a:xfrm>
        </p:spPr>
        <p:txBody>
          <a:bodyPr>
            <a:normAutofit fontScale="92500"/>
          </a:bodyPr>
          <a:lstStyle/>
          <a:p>
            <a:r>
              <a:rPr lang="en-GB" sz="2400" b="1" dirty="0"/>
              <a:t>Module name:	</a:t>
            </a:r>
            <a:r>
              <a:rPr lang="en-US" sz="2400" b="1" dirty="0"/>
              <a:t>Research Practicum Part 1 &amp; 2 / Internship  Part 1 &amp; 2</a:t>
            </a:r>
          </a:p>
          <a:p>
            <a:r>
              <a:rPr lang="en-US" sz="2400" dirty="0"/>
              <a:t> </a:t>
            </a:r>
            <a:r>
              <a:rPr lang="en-GB" sz="2400" b="1" dirty="0"/>
              <a:t>Credit Rating: </a:t>
            </a:r>
            <a:r>
              <a:rPr lang="en-GB" sz="2400" dirty="0"/>
              <a:t>	5+ 25</a:t>
            </a:r>
          </a:p>
          <a:p>
            <a:r>
              <a:rPr lang="en-GB" sz="2400" b="1" dirty="0"/>
              <a:t>Credit Level: </a:t>
            </a:r>
            <a:r>
              <a:rPr lang="en-GB" sz="2400" dirty="0"/>
              <a:t>	9</a:t>
            </a:r>
          </a:p>
          <a:p>
            <a:r>
              <a:rPr lang="en-GB" sz="2400" b="1" dirty="0"/>
              <a:t>Contact Hours: </a:t>
            </a:r>
            <a:r>
              <a:rPr lang="en-GB" sz="2400" dirty="0"/>
              <a:t>	Timetabled weekly sessions </a:t>
            </a:r>
          </a:p>
          <a:p>
            <a:pPr marL="0" indent="0">
              <a:buNone/>
            </a:pPr>
            <a:r>
              <a:rPr lang="en-GB" sz="2400" dirty="0"/>
              <a:t>		</a:t>
            </a:r>
            <a:r>
              <a:rPr lang="en-GB" sz="1800" dirty="0"/>
              <a:t>Research Practicum/ Internship Part 2 </a:t>
            </a:r>
            <a:r>
              <a:rPr lang="en-GB" sz="2400" dirty="0"/>
              <a:t>- </a:t>
            </a:r>
            <a:r>
              <a:rPr lang="en-GB" sz="1800" dirty="0"/>
              <a:t>E.g. 2-4 hours based on group size</a:t>
            </a:r>
          </a:p>
          <a:p>
            <a:r>
              <a:rPr lang="en-GB" sz="2400" b="1" dirty="0"/>
              <a:t>Module Lecturer:	 Check Timetable for your group supervisor</a:t>
            </a:r>
            <a:endParaRPr lang="en-GB" sz="2400" dirty="0"/>
          </a:p>
        </p:txBody>
      </p:sp>
      <p:sp>
        <p:nvSpPr>
          <p:cNvPr id="16" name="TextBox 15">
            <a:extLst>
              <a:ext uri="{FF2B5EF4-FFF2-40B4-BE49-F238E27FC236}">
                <a16:creationId xmlns:a16="http://schemas.microsoft.com/office/drawing/2014/main" id="{504B2A8A-251F-475B-9C65-CF89A0DDB8F3}"/>
              </a:ext>
            </a:extLst>
          </p:cNvPr>
          <p:cNvSpPr txBox="1"/>
          <p:nvPr/>
        </p:nvSpPr>
        <p:spPr>
          <a:xfrm>
            <a:off x="107504" y="4599019"/>
            <a:ext cx="2622229" cy="1200329"/>
          </a:xfrm>
          <a:prstGeom prst="rect">
            <a:avLst/>
          </a:prstGeom>
          <a:noFill/>
        </p:spPr>
        <p:txBody>
          <a:bodyPr wrap="square" rtlCol="0">
            <a:spAutoFit/>
          </a:bodyPr>
          <a:lstStyle/>
          <a:p>
            <a:r>
              <a:rPr lang="en-US" b="1" dirty="0">
                <a:solidFill>
                  <a:srgbClr val="0070C0"/>
                </a:solidFill>
              </a:rPr>
              <a:t>MSc Data Analytics   </a:t>
            </a:r>
          </a:p>
          <a:p>
            <a:r>
              <a:rPr lang="en-US" b="1" dirty="0">
                <a:solidFill>
                  <a:srgbClr val="0070C0"/>
                </a:solidFill>
              </a:rPr>
              <a:t> (Sept 24 onwards  intakes only) </a:t>
            </a:r>
          </a:p>
          <a:p>
            <a:r>
              <a:rPr lang="en-US" b="1" dirty="0">
                <a:solidFill>
                  <a:srgbClr val="0070C0"/>
                </a:solidFill>
              </a:rPr>
              <a:t>MSc Open Data Practice </a:t>
            </a:r>
            <a:endParaRPr lang="en-IE" b="1" dirty="0">
              <a:solidFill>
                <a:srgbClr val="0070C0"/>
              </a:solidFill>
            </a:endParaRPr>
          </a:p>
        </p:txBody>
      </p:sp>
      <p:grpSp>
        <p:nvGrpSpPr>
          <p:cNvPr id="19" name="Group 18">
            <a:extLst>
              <a:ext uri="{FF2B5EF4-FFF2-40B4-BE49-F238E27FC236}">
                <a16:creationId xmlns:a16="http://schemas.microsoft.com/office/drawing/2014/main" id="{72D8BDC0-AFD1-6C89-36E2-5F2CC8CD2ADA}"/>
              </a:ext>
            </a:extLst>
          </p:cNvPr>
          <p:cNvGrpSpPr/>
          <p:nvPr/>
        </p:nvGrpSpPr>
        <p:grpSpPr>
          <a:xfrm>
            <a:off x="2339752" y="4599019"/>
            <a:ext cx="6499174" cy="939067"/>
            <a:chOff x="1119386" y="5407959"/>
            <a:chExt cx="5750122" cy="1045377"/>
          </a:xfrm>
        </p:grpSpPr>
        <p:sp>
          <p:nvSpPr>
            <p:cNvPr id="20" name="Rounded Rectangle 3">
              <a:extLst>
                <a:ext uri="{FF2B5EF4-FFF2-40B4-BE49-F238E27FC236}">
                  <a16:creationId xmlns:a16="http://schemas.microsoft.com/office/drawing/2014/main" id="{C623D29A-EE85-6D12-E50A-DDC198C43F54}"/>
                </a:ext>
              </a:extLst>
            </p:cNvPr>
            <p:cNvSpPr/>
            <p:nvPr/>
          </p:nvSpPr>
          <p:spPr>
            <a:xfrm>
              <a:off x="1119386" y="5407959"/>
              <a:ext cx="2607528" cy="10081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E" dirty="0"/>
                <a:t>Research Practicum Part 1/ Internship Part 1</a:t>
              </a:r>
            </a:p>
          </p:txBody>
        </p:sp>
        <p:sp>
          <p:nvSpPr>
            <p:cNvPr id="21" name="Rounded Rectangle 4">
              <a:extLst>
                <a:ext uri="{FF2B5EF4-FFF2-40B4-BE49-F238E27FC236}">
                  <a16:creationId xmlns:a16="http://schemas.microsoft.com/office/drawing/2014/main" id="{810E1C3E-FCAA-82BB-C026-547F6ADFA528}"/>
                </a:ext>
              </a:extLst>
            </p:cNvPr>
            <p:cNvSpPr/>
            <p:nvPr/>
          </p:nvSpPr>
          <p:spPr>
            <a:xfrm>
              <a:off x="4261980" y="5445224"/>
              <a:ext cx="2607528" cy="10081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E" dirty="0"/>
                <a:t>Research Practicum Part 2/ Internship Part 2</a:t>
              </a:r>
            </a:p>
          </p:txBody>
        </p:sp>
        <p:cxnSp>
          <p:nvCxnSpPr>
            <p:cNvPr id="22" name="Straight Arrow Connector 21">
              <a:extLst>
                <a:ext uri="{FF2B5EF4-FFF2-40B4-BE49-F238E27FC236}">
                  <a16:creationId xmlns:a16="http://schemas.microsoft.com/office/drawing/2014/main" id="{EAE1CD5B-6C90-CF5E-3172-5DB35680708E}"/>
                </a:ext>
              </a:extLst>
            </p:cNvPr>
            <p:cNvCxnSpPr>
              <a:cxnSpLocks/>
            </p:cNvCxnSpPr>
            <p:nvPr/>
          </p:nvCxnSpPr>
          <p:spPr>
            <a:xfrm>
              <a:off x="3574207" y="5949280"/>
              <a:ext cx="853777" cy="0"/>
            </a:xfrm>
            <a:prstGeom prst="straightConnector1">
              <a:avLst/>
            </a:prstGeom>
            <a:ln w="254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664726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408" y="197768"/>
            <a:ext cx="7571184" cy="1143000"/>
          </a:xfrm>
        </p:spPr>
        <p:txBody>
          <a:bodyPr>
            <a:normAutofit fontScale="90000"/>
          </a:bodyPr>
          <a:lstStyle/>
          <a:p>
            <a:r>
              <a:rPr lang="en-GB" dirty="0">
                <a:solidFill>
                  <a:srgbClr val="0070C0"/>
                </a:solidFill>
              </a:rPr>
              <a:t>Research Project -</a:t>
            </a:r>
            <a:br>
              <a:rPr lang="en-GB" dirty="0">
                <a:solidFill>
                  <a:srgbClr val="0070C0"/>
                </a:solidFill>
              </a:rPr>
            </a:br>
            <a:r>
              <a:rPr lang="en-GB" dirty="0">
                <a:solidFill>
                  <a:srgbClr val="0070C0"/>
                </a:solidFill>
              </a:rPr>
              <a:t> Module Learning Outcomes</a:t>
            </a:r>
            <a:endParaRPr lang="en-IE" dirty="0">
              <a:solidFill>
                <a:srgbClr val="0070C0"/>
              </a:solidFill>
            </a:endParaRPr>
          </a:p>
        </p:txBody>
      </p:sp>
      <p:sp>
        <p:nvSpPr>
          <p:cNvPr id="3" name="Content Placeholder 2"/>
          <p:cNvSpPr>
            <a:spLocks noGrp="1"/>
          </p:cNvSpPr>
          <p:nvPr>
            <p:ph idx="1"/>
          </p:nvPr>
        </p:nvSpPr>
        <p:spPr>
          <a:xfrm>
            <a:off x="457200" y="1340768"/>
            <a:ext cx="8229600" cy="5517232"/>
          </a:xfrm>
        </p:spPr>
        <p:txBody>
          <a:bodyPr>
            <a:normAutofit/>
          </a:bodyPr>
          <a:lstStyle/>
          <a:p>
            <a:pPr marL="0" indent="0">
              <a:buNone/>
            </a:pPr>
            <a:r>
              <a:rPr lang="en-US" sz="2200" b="1" dirty="0"/>
              <a:t>On successful completion of this module, students will be able to:</a:t>
            </a:r>
          </a:p>
          <a:p>
            <a:pPr>
              <a:spcBef>
                <a:spcPts val="1200"/>
              </a:spcBef>
            </a:pPr>
            <a:r>
              <a:rPr lang="en-US" sz="2200" dirty="0"/>
              <a:t>LO1 </a:t>
            </a:r>
            <a:r>
              <a:rPr lang="en-US" sz="2200" dirty="0" err="1"/>
              <a:t>Analyse</a:t>
            </a:r>
            <a:r>
              <a:rPr lang="en-US" sz="2200" dirty="0"/>
              <a:t>, select and implement appropriate research methods and techniques </a:t>
            </a:r>
          </a:p>
          <a:p>
            <a:pPr>
              <a:spcBef>
                <a:spcPts val="1200"/>
              </a:spcBef>
            </a:pPr>
            <a:r>
              <a:rPr lang="en-US" sz="2200" dirty="0"/>
              <a:t>LO2 Research and critically </a:t>
            </a:r>
            <a:r>
              <a:rPr lang="en-US" sz="2200" dirty="0" err="1"/>
              <a:t>analyse</a:t>
            </a:r>
            <a:r>
              <a:rPr lang="en-US" sz="2200" dirty="0"/>
              <a:t> the state of the art of a problem domain </a:t>
            </a:r>
          </a:p>
          <a:p>
            <a:pPr>
              <a:spcBef>
                <a:spcPts val="1200"/>
              </a:spcBef>
            </a:pPr>
            <a:r>
              <a:rPr lang="en-US" sz="2200" dirty="0"/>
              <a:t>LO3 Propose, architect and implement an ICT solution related to the </a:t>
            </a:r>
            <a:r>
              <a:rPr lang="en-US" sz="2200" dirty="0" err="1"/>
              <a:t>programme</a:t>
            </a:r>
            <a:r>
              <a:rPr lang="en-US" sz="2200" dirty="0"/>
              <a:t> area </a:t>
            </a:r>
          </a:p>
          <a:p>
            <a:pPr>
              <a:spcBef>
                <a:spcPts val="1200"/>
              </a:spcBef>
            </a:pPr>
            <a:r>
              <a:rPr lang="en-US" sz="2200" dirty="0"/>
              <a:t>LO4 Evaluate the solution based on identified measures </a:t>
            </a:r>
          </a:p>
          <a:p>
            <a:pPr>
              <a:spcBef>
                <a:spcPts val="1200"/>
              </a:spcBef>
            </a:pPr>
            <a:r>
              <a:rPr lang="en-US" sz="2200" dirty="0"/>
              <a:t>LO5 Investigate potential future research / </a:t>
            </a:r>
            <a:r>
              <a:rPr lang="en-US" sz="2200" dirty="0" err="1"/>
              <a:t>commercialisation</a:t>
            </a:r>
            <a:r>
              <a:rPr lang="en-US" sz="2200" dirty="0"/>
              <a:t> possibilities </a:t>
            </a:r>
          </a:p>
          <a:p>
            <a:pPr>
              <a:spcBef>
                <a:spcPts val="1200"/>
              </a:spcBef>
            </a:pPr>
            <a:r>
              <a:rPr lang="en-US" sz="2200" dirty="0"/>
              <a:t>LO6 Present and defend the research findings through a viva, artefact/product demo and research paper style report</a:t>
            </a:r>
          </a:p>
        </p:txBody>
      </p:sp>
    </p:spTree>
    <p:extLst>
      <p:ext uri="{BB962C8B-B14F-4D97-AF65-F5344CB8AC3E}">
        <p14:creationId xmlns:p14="http://schemas.microsoft.com/office/powerpoint/2010/main" val="769033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solidFill>
                  <a:srgbClr val="0070C0"/>
                </a:solidFill>
              </a:rPr>
              <a:t>Practicum/Internship Part 1 &amp; 2- Module Learning Outcomes</a:t>
            </a:r>
            <a:endParaRPr lang="en-IE" dirty="0">
              <a:solidFill>
                <a:srgbClr val="0070C0"/>
              </a:solidFill>
            </a:endParaRPr>
          </a:p>
        </p:txBody>
      </p:sp>
      <p:sp>
        <p:nvSpPr>
          <p:cNvPr id="3" name="Content Placeholder 2"/>
          <p:cNvSpPr>
            <a:spLocks noGrp="1"/>
          </p:cNvSpPr>
          <p:nvPr>
            <p:ph idx="1"/>
          </p:nvPr>
        </p:nvSpPr>
        <p:spPr>
          <a:xfrm>
            <a:off x="457200" y="1340768"/>
            <a:ext cx="8686800" cy="5517232"/>
          </a:xfrm>
        </p:spPr>
        <p:txBody>
          <a:bodyPr>
            <a:normAutofit/>
          </a:bodyPr>
          <a:lstStyle/>
          <a:p>
            <a:pPr marL="0" indent="0">
              <a:buNone/>
            </a:pPr>
            <a:r>
              <a:rPr lang="en-US" sz="2200" b="1" dirty="0"/>
              <a:t>On successful completion of this module, students will be able to:</a:t>
            </a:r>
          </a:p>
          <a:p>
            <a:pPr>
              <a:spcBef>
                <a:spcPts val="1200"/>
              </a:spcBef>
            </a:pPr>
            <a:r>
              <a:rPr lang="en-US" sz="2200" dirty="0"/>
              <a:t>LO1.	Propose a research question, project objectives and methodology.</a:t>
            </a:r>
          </a:p>
          <a:p>
            <a:pPr>
              <a:spcBef>
                <a:spcPts val="1200"/>
              </a:spcBef>
            </a:pPr>
            <a:r>
              <a:rPr lang="en-US" sz="2200" dirty="0"/>
              <a:t>LO2.	</a:t>
            </a:r>
            <a:r>
              <a:rPr lang="en-US" sz="2200" dirty="0" err="1"/>
              <a:t>Analyse</a:t>
            </a:r>
            <a:r>
              <a:rPr lang="en-US" sz="2200" dirty="0"/>
              <a:t>, </a:t>
            </a:r>
            <a:r>
              <a:rPr lang="en-US" sz="2200" dirty="0" err="1"/>
              <a:t>synthesise</a:t>
            </a:r>
            <a:r>
              <a:rPr lang="en-US" sz="2200" dirty="0"/>
              <a:t>, and critically evaluate the state of the art.</a:t>
            </a:r>
          </a:p>
          <a:p>
            <a:pPr>
              <a:spcBef>
                <a:spcPts val="1200"/>
              </a:spcBef>
            </a:pPr>
            <a:r>
              <a:rPr lang="en-US" sz="2200" dirty="0"/>
              <a:t>LO3.	Propose, architect, implement and evaluate an ICT solution related to the </a:t>
            </a:r>
            <a:r>
              <a:rPr lang="en-US" sz="2200" dirty="0" err="1"/>
              <a:t>programme</a:t>
            </a:r>
            <a:r>
              <a:rPr lang="en-US" sz="2200" dirty="0"/>
              <a:t> area.</a:t>
            </a:r>
          </a:p>
          <a:p>
            <a:pPr>
              <a:spcBef>
                <a:spcPts val="1200"/>
              </a:spcBef>
            </a:pPr>
            <a:r>
              <a:rPr lang="en-US" sz="2200" dirty="0"/>
              <a:t>LO4.	Investigate potential future research and invention disclosures.</a:t>
            </a:r>
          </a:p>
          <a:p>
            <a:pPr>
              <a:spcBef>
                <a:spcPts val="1200"/>
              </a:spcBef>
            </a:pPr>
            <a:r>
              <a:rPr lang="en-US" sz="2200" dirty="0"/>
              <a:t>LO5.	Present and defend the research findings through a viva, artefact/product demo, and report.</a:t>
            </a:r>
          </a:p>
          <a:p>
            <a:pPr>
              <a:spcBef>
                <a:spcPts val="1200"/>
              </a:spcBef>
            </a:pPr>
            <a:r>
              <a:rPr lang="en-US" sz="2200" dirty="0"/>
              <a:t>LO6.	Understand the ethical issues that need to be addressed when conducting research.</a:t>
            </a:r>
          </a:p>
          <a:p>
            <a:pPr>
              <a:spcBef>
                <a:spcPts val="1200"/>
              </a:spcBef>
            </a:pPr>
            <a:r>
              <a:rPr lang="en-US" sz="2200" dirty="0"/>
              <a:t>LO7.	Demonstrate initiative whilst working alone or part of a team, and appropriate communication and interpersonal skills.</a:t>
            </a:r>
          </a:p>
        </p:txBody>
      </p:sp>
    </p:spTree>
    <p:extLst>
      <p:ext uri="{BB962C8B-B14F-4D97-AF65-F5344CB8AC3E}">
        <p14:creationId xmlns:p14="http://schemas.microsoft.com/office/powerpoint/2010/main" val="1276703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36496" cy="1143000"/>
          </a:xfrm>
        </p:spPr>
        <p:txBody>
          <a:bodyPr>
            <a:normAutofit fontScale="90000"/>
          </a:bodyPr>
          <a:lstStyle/>
          <a:p>
            <a:r>
              <a:rPr lang="en-GB" dirty="0">
                <a:solidFill>
                  <a:srgbClr val="0070C0"/>
                </a:solidFill>
              </a:rPr>
              <a:t>Research Practicum/Internship Part 1 &amp; 2- Module Learning Outcomes</a:t>
            </a:r>
            <a:endParaRPr lang="en-IE" dirty="0">
              <a:solidFill>
                <a:srgbClr val="0070C0"/>
              </a:solidFill>
            </a:endParaRPr>
          </a:p>
        </p:txBody>
      </p:sp>
      <p:sp>
        <p:nvSpPr>
          <p:cNvPr id="3" name="Content Placeholder 2"/>
          <p:cNvSpPr>
            <a:spLocks noGrp="1"/>
          </p:cNvSpPr>
          <p:nvPr>
            <p:ph idx="1"/>
          </p:nvPr>
        </p:nvSpPr>
        <p:spPr>
          <a:xfrm>
            <a:off x="457200" y="1340768"/>
            <a:ext cx="8686800" cy="5517232"/>
          </a:xfrm>
        </p:spPr>
        <p:txBody>
          <a:bodyPr>
            <a:normAutofit/>
          </a:bodyPr>
          <a:lstStyle/>
          <a:p>
            <a:pPr marL="0" indent="0">
              <a:buNone/>
            </a:pPr>
            <a:r>
              <a:rPr lang="en-US" sz="2200" b="1" dirty="0"/>
              <a:t>On successful completion of this module, students will be able to:</a:t>
            </a:r>
          </a:p>
          <a:p>
            <a:pPr>
              <a:spcBef>
                <a:spcPts val="1200"/>
              </a:spcBef>
            </a:pPr>
            <a:r>
              <a:rPr lang="en-US" sz="2200" dirty="0"/>
              <a:t>LO1.	Propose a research question, project objectives and methodology.</a:t>
            </a:r>
          </a:p>
          <a:p>
            <a:pPr>
              <a:spcBef>
                <a:spcPts val="1200"/>
              </a:spcBef>
            </a:pPr>
            <a:r>
              <a:rPr lang="en-US" sz="2200" dirty="0"/>
              <a:t>LO2.	</a:t>
            </a:r>
            <a:r>
              <a:rPr lang="en-US" sz="2200" dirty="0" err="1"/>
              <a:t>Analyse</a:t>
            </a:r>
            <a:r>
              <a:rPr lang="en-US" sz="2200" dirty="0"/>
              <a:t>, </a:t>
            </a:r>
            <a:r>
              <a:rPr lang="en-US" sz="2200" dirty="0" err="1"/>
              <a:t>synthesise</a:t>
            </a:r>
            <a:r>
              <a:rPr lang="en-US" sz="2200" dirty="0"/>
              <a:t>, and critically evaluate the state of the art.</a:t>
            </a:r>
          </a:p>
          <a:p>
            <a:pPr>
              <a:spcBef>
                <a:spcPts val="1200"/>
              </a:spcBef>
            </a:pPr>
            <a:r>
              <a:rPr lang="en-US" sz="2200" dirty="0"/>
              <a:t>LO3.	Propose, architect, implement and evaluate an ICT solution related to the </a:t>
            </a:r>
            <a:r>
              <a:rPr lang="en-US" sz="2200" dirty="0" err="1"/>
              <a:t>programme</a:t>
            </a:r>
            <a:r>
              <a:rPr lang="en-US" sz="2200" dirty="0"/>
              <a:t> area.</a:t>
            </a:r>
          </a:p>
          <a:p>
            <a:pPr>
              <a:spcBef>
                <a:spcPts val="1200"/>
              </a:spcBef>
            </a:pPr>
            <a:r>
              <a:rPr lang="en-US" sz="2200" dirty="0"/>
              <a:t>LO4.	Investigate potential future research and invention disclosures.</a:t>
            </a:r>
          </a:p>
          <a:p>
            <a:pPr>
              <a:spcBef>
                <a:spcPts val="1200"/>
              </a:spcBef>
            </a:pPr>
            <a:r>
              <a:rPr lang="en-US" sz="2200" dirty="0"/>
              <a:t>LO5.	Present and defend the research findings through a viva, artefact/product demo, and report.</a:t>
            </a:r>
          </a:p>
          <a:p>
            <a:pPr>
              <a:spcBef>
                <a:spcPts val="1200"/>
              </a:spcBef>
            </a:pPr>
            <a:r>
              <a:rPr lang="en-US" sz="2200" dirty="0"/>
              <a:t>LO6.	Identify, assess, and resolve the ethical issues that need to be addressed when conducting research.</a:t>
            </a:r>
          </a:p>
          <a:p>
            <a:pPr>
              <a:spcBef>
                <a:spcPts val="1200"/>
              </a:spcBef>
            </a:pPr>
            <a:r>
              <a:rPr lang="en-US" sz="2200" dirty="0"/>
              <a:t>LO7.	Demonstrate initiative whilst working alone or part of a team, and appropriate communication and interpersonal skills.</a:t>
            </a:r>
          </a:p>
        </p:txBody>
      </p:sp>
    </p:spTree>
    <p:extLst>
      <p:ext uri="{BB962C8B-B14F-4D97-AF65-F5344CB8AC3E}">
        <p14:creationId xmlns:p14="http://schemas.microsoft.com/office/powerpoint/2010/main" val="4143262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70C0"/>
                </a:solidFill>
              </a:rPr>
              <a:t>Objectives</a:t>
            </a:r>
            <a:endParaRPr lang="en-IE" dirty="0">
              <a:solidFill>
                <a:srgbClr val="0070C0"/>
              </a:solidFill>
            </a:endParaRPr>
          </a:p>
        </p:txBody>
      </p:sp>
      <p:sp>
        <p:nvSpPr>
          <p:cNvPr id="3" name="Content Placeholder 2"/>
          <p:cNvSpPr>
            <a:spLocks noGrp="1"/>
          </p:cNvSpPr>
          <p:nvPr>
            <p:ph idx="1"/>
          </p:nvPr>
        </p:nvSpPr>
        <p:spPr>
          <a:xfrm>
            <a:off x="476673" y="1417638"/>
            <a:ext cx="8229600" cy="5165724"/>
          </a:xfrm>
        </p:spPr>
        <p:txBody>
          <a:bodyPr>
            <a:normAutofit fontScale="92500" lnSpcReduction="20000"/>
          </a:bodyPr>
          <a:lstStyle/>
          <a:p>
            <a:pPr>
              <a:spcBef>
                <a:spcPts val="1200"/>
              </a:spcBef>
            </a:pPr>
            <a:r>
              <a:rPr lang="en-US" sz="2200" b="1" dirty="0"/>
              <a:t>To consolidate the knowledge and skills acquired in other modules by carrying out an interdisciplinary research project that combines both research and technical skills</a:t>
            </a:r>
          </a:p>
          <a:p>
            <a:pPr>
              <a:spcBef>
                <a:spcPts val="1200"/>
              </a:spcBef>
            </a:pPr>
            <a:r>
              <a:rPr lang="en-US" sz="2200" b="1" dirty="0"/>
              <a:t>To develop an in-depth understanding of some specific topics related to their chosen discipline, </a:t>
            </a:r>
          </a:p>
          <a:p>
            <a:pPr>
              <a:spcBef>
                <a:spcPts val="1200"/>
              </a:spcBef>
            </a:pPr>
            <a:r>
              <a:rPr lang="en-US" sz="2200" b="1" dirty="0"/>
              <a:t>To apply research methods and techniques and to develop a software/product/artefact.</a:t>
            </a:r>
          </a:p>
          <a:p>
            <a:pPr>
              <a:spcBef>
                <a:spcPts val="1200"/>
              </a:spcBef>
            </a:pPr>
            <a:r>
              <a:rPr lang="en-US" sz="2200" b="1" dirty="0"/>
              <a:t>To investigate, design, produce, evaluate and critically </a:t>
            </a:r>
            <a:r>
              <a:rPr lang="en-US" sz="2200" b="1" dirty="0" err="1"/>
              <a:t>analyse</a:t>
            </a:r>
            <a:r>
              <a:rPr lang="en-US" sz="2200" b="1" dirty="0"/>
              <a:t> an innovative ICT solution related to the course area</a:t>
            </a:r>
          </a:p>
          <a:p>
            <a:pPr>
              <a:spcBef>
                <a:spcPts val="1200"/>
              </a:spcBef>
            </a:pPr>
            <a:endParaRPr lang="en-US" sz="2200" b="1" dirty="0"/>
          </a:p>
          <a:p>
            <a:pPr>
              <a:spcBef>
                <a:spcPts val="1200"/>
              </a:spcBef>
            </a:pPr>
            <a:r>
              <a:rPr lang="en-US" sz="2200" b="1" dirty="0">
                <a:solidFill>
                  <a:srgbClr val="0070C0"/>
                </a:solidFill>
              </a:rPr>
              <a:t>Research Project: </a:t>
            </a:r>
            <a:r>
              <a:rPr lang="en-US" sz="2200" dirty="0"/>
              <a:t>The research work shall build upon the work conducted as part of Research in Computing module</a:t>
            </a:r>
          </a:p>
          <a:p>
            <a:pPr>
              <a:spcBef>
                <a:spcPts val="1200"/>
              </a:spcBef>
            </a:pPr>
            <a:r>
              <a:rPr lang="en-US" sz="2200" b="1" dirty="0">
                <a:solidFill>
                  <a:srgbClr val="0070C0"/>
                </a:solidFill>
              </a:rPr>
              <a:t>Practicum/ Research Practicum: </a:t>
            </a:r>
            <a:r>
              <a:rPr lang="en-US" sz="2200" dirty="0"/>
              <a:t>The research work shall build upon the work conducted as part of Practicum/Research Practicum Part 1</a:t>
            </a:r>
          </a:p>
          <a:p>
            <a:pPr>
              <a:spcBef>
                <a:spcPts val="1200"/>
              </a:spcBef>
            </a:pPr>
            <a:r>
              <a:rPr lang="en-US" sz="2200" b="1" dirty="0">
                <a:solidFill>
                  <a:srgbClr val="0070C0"/>
                </a:solidFill>
              </a:rPr>
              <a:t>Internship: </a:t>
            </a:r>
            <a:r>
              <a:rPr lang="en-US" sz="2200" dirty="0"/>
              <a:t>The research work shall build upon the tasks conducted in the company. A new research proposal is required</a:t>
            </a:r>
          </a:p>
          <a:p>
            <a:pPr>
              <a:spcBef>
                <a:spcPts val="1200"/>
              </a:spcBef>
            </a:pPr>
            <a:endParaRPr lang="en-US" sz="2200" dirty="0"/>
          </a:p>
          <a:p>
            <a:pPr>
              <a:spcBef>
                <a:spcPts val="1200"/>
              </a:spcBef>
            </a:pPr>
            <a:endParaRPr lang="en-US" sz="2200" dirty="0"/>
          </a:p>
          <a:p>
            <a:pPr>
              <a:spcBef>
                <a:spcPts val="1200"/>
              </a:spcBef>
            </a:pPr>
            <a:endParaRPr lang="en-US" sz="2200" dirty="0"/>
          </a:p>
        </p:txBody>
      </p:sp>
    </p:spTree>
    <p:extLst>
      <p:ext uri="{BB962C8B-B14F-4D97-AF65-F5344CB8AC3E}">
        <p14:creationId xmlns:p14="http://schemas.microsoft.com/office/powerpoint/2010/main" val="3030306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07504" y="1268760"/>
            <a:ext cx="9036496" cy="5183157"/>
          </a:xfrm>
        </p:spPr>
        <p:txBody>
          <a:bodyPr>
            <a:normAutofit fontScale="85000" lnSpcReduction="10000"/>
          </a:bodyPr>
          <a:lstStyle/>
          <a:p>
            <a:pPr>
              <a:spcBef>
                <a:spcPts val="0"/>
              </a:spcBef>
              <a:buFont typeface="Arial" panose="020B0604020202020204" pitchFamily="34" charset="0"/>
              <a:buChar char="•"/>
            </a:pPr>
            <a:r>
              <a:rPr lang="en-US" sz="2200" b="1" dirty="0"/>
              <a:t>Portfolio submission consisting of</a:t>
            </a:r>
          </a:p>
          <a:p>
            <a:pPr lvl="1">
              <a:spcBef>
                <a:spcPts val="600"/>
              </a:spcBef>
            </a:pPr>
            <a:r>
              <a:rPr lang="en-US" sz="2000" dirty="0">
                <a:effectLst/>
                <a:ea typeface="Calibri" panose="020F0502020204030204" pitchFamily="34" charset="0"/>
                <a:cs typeface="Times New Roman" panose="02020603050405020304" pitchFamily="18" charset="0"/>
              </a:rPr>
              <a:t>Weekly </a:t>
            </a:r>
            <a:r>
              <a:rPr lang="en-US" sz="2000" dirty="0">
                <a:ea typeface="Calibri" panose="020F0502020204030204" pitchFamily="34" charset="0"/>
                <a:cs typeface="Times New Roman" panose="02020603050405020304" pitchFamily="18" charset="0"/>
              </a:rPr>
              <a:t>a</a:t>
            </a:r>
            <a:r>
              <a:rPr lang="en-US" sz="2000" dirty="0">
                <a:effectLst/>
                <a:ea typeface="Calibri" panose="020F0502020204030204" pitchFamily="34" charset="0"/>
                <a:cs typeface="Times New Roman" panose="02020603050405020304" pitchFamily="18" charset="0"/>
              </a:rPr>
              <a:t>ctivity reports  required for MSc Cloud Computing, MSc Cybersecurity, MSc Fintech, MSc AI/AIBUS, MSc Data Analytics (Sept 24 intake  onwards), MSc Open Data Practice</a:t>
            </a:r>
          </a:p>
          <a:p>
            <a:pPr lvl="2">
              <a:spcBef>
                <a:spcPts val="600"/>
              </a:spcBef>
            </a:pPr>
            <a:r>
              <a:rPr lang="en-US" sz="1900"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NOT REQUIRED</a:t>
            </a:r>
            <a:r>
              <a:rPr lang="en-US" sz="1900" dirty="0">
                <a:ea typeface="Calibri" panose="020F0502020204030204" pitchFamily="34" charset="0"/>
                <a:cs typeface="Times New Roman" panose="02020603050405020304" pitchFamily="18" charset="0"/>
              </a:rPr>
              <a:t> for MSc Data Analytics (Jan 23/Sept 23/Jan 24 intake) doing Research Project</a:t>
            </a:r>
            <a:endParaRPr lang="en-IE" sz="2000" dirty="0"/>
          </a:p>
          <a:p>
            <a:pPr lvl="1">
              <a:spcBef>
                <a:spcPts val="600"/>
              </a:spcBef>
            </a:pPr>
            <a:r>
              <a:rPr lang="en-IE" sz="2000" dirty="0"/>
              <a:t>Research paper style report (up to 20 pages)</a:t>
            </a:r>
            <a:endParaRPr lang="ro-RO" sz="2000" dirty="0"/>
          </a:p>
          <a:p>
            <a:pPr lvl="1">
              <a:spcBef>
                <a:spcPts val="600"/>
              </a:spcBef>
            </a:pPr>
            <a:r>
              <a:rPr lang="en-IE" sz="2000" dirty="0"/>
              <a:t>ICT Solution</a:t>
            </a:r>
            <a:endParaRPr lang="ro-RO" sz="2000" dirty="0"/>
          </a:p>
          <a:p>
            <a:pPr lvl="1">
              <a:spcBef>
                <a:spcPts val="600"/>
              </a:spcBef>
            </a:pPr>
            <a:r>
              <a:rPr lang="en-IE" sz="2000" dirty="0"/>
              <a:t>Configuration manual</a:t>
            </a:r>
            <a:endParaRPr lang="ro-RO" sz="2000" dirty="0"/>
          </a:p>
          <a:p>
            <a:pPr lvl="1">
              <a:spcBef>
                <a:spcPts val="600"/>
              </a:spcBef>
            </a:pPr>
            <a:r>
              <a:rPr lang="en-IE" sz="2000" dirty="0"/>
              <a:t>Presentation Video + Demo Video</a:t>
            </a:r>
          </a:p>
          <a:p>
            <a:pPr lvl="1">
              <a:spcBef>
                <a:spcPts val="600"/>
              </a:spcBef>
            </a:pPr>
            <a:r>
              <a:rPr lang="en-IE" sz="2000" dirty="0"/>
              <a:t>Answers  for the questions given by the two examiners</a:t>
            </a:r>
            <a:endParaRPr lang="en-US" sz="2400" b="1" dirty="0"/>
          </a:p>
          <a:p>
            <a:pPr>
              <a:spcBef>
                <a:spcPts val="0"/>
              </a:spcBef>
            </a:pPr>
            <a:r>
              <a:rPr lang="en-US" sz="2200" b="1" dirty="0"/>
              <a:t>Videos</a:t>
            </a:r>
          </a:p>
          <a:p>
            <a:pPr lvl="1">
              <a:spcBef>
                <a:spcPts val="0"/>
              </a:spcBef>
            </a:pPr>
            <a:r>
              <a:rPr lang="en-US" sz="2000" dirty="0"/>
              <a:t>Oral Presentation (10 minutes): Learners are required to record a presentation of their research</a:t>
            </a:r>
          </a:p>
          <a:p>
            <a:pPr lvl="1">
              <a:spcBef>
                <a:spcPts val="0"/>
              </a:spcBef>
            </a:pPr>
            <a:r>
              <a:rPr lang="en-US" sz="2000" dirty="0"/>
              <a:t>Demo ( 5-10 minutes): A demonstration of ICT solution  to be illustrated</a:t>
            </a:r>
          </a:p>
          <a:p>
            <a:pPr marL="0" indent="0">
              <a:buNone/>
            </a:pPr>
            <a:r>
              <a:rPr lang="en-US" sz="2400" b="1" dirty="0">
                <a:solidFill>
                  <a:srgbClr val="C00000"/>
                </a:solidFill>
              </a:rPr>
              <a:t>Student must submit the video recordings</a:t>
            </a:r>
          </a:p>
          <a:p>
            <a:pPr marL="0" indent="0">
              <a:buNone/>
            </a:pPr>
            <a:r>
              <a:rPr lang="en-US" sz="2000" b="1" dirty="0"/>
              <a:t>Submission deadline available on MSc project Moodle page</a:t>
            </a:r>
          </a:p>
          <a:p>
            <a:pPr marL="0" indent="0">
              <a:buNone/>
            </a:pPr>
            <a:endParaRPr lang="en-US" sz="2000" b="1" dirty="0">
              <a:solidFill>
                <a:srgbClr val="0070C0"/>
              </a:solidFill>
            </a:endParaRPr>
          </a:p>
          <a:p>
            <a:pPr marL="0" indent="0">
              <a:buNone/>
            </a:pPr>
            <a:r>
              <a:rPr lang="en-US" sz="2000" b="1" dirty="0">
                <a:solidFill>
                  <a:srgbClr val="0070C0"/>
                </a:solidFill>
              </a:rPr>
              <a:t>NOTE: The College reserves the right to request a live viva session to take place in the event where examiners feel that further clarification is required regarding a student submission.</a:t>
            </a:r>
            <a:endParaRPr lang="en-IE" dirty="0"/>
          </a:p>
        </p:txBody>
      </p:sp>
      <p:sp>
        <p:nvSpPr>
          <p:cNvPr id="4" name="Title 3"/>
          <p:cNvSpPr>
            <a:spLocks noGrp="1"/>
          </p:cNvSpPr>
          <p:nvPr>
            <p:ph type="title"/>
          </p:nvPr>
        </p:nvSpPr>
        <p:spPr>
          <a:xfrm>
            <a:off x="438063" y="190220"/>
            <a:ext cx="8686800" cy="858424"/>
          </a:xfrm>
        </p:spPr>
        <p:txBody>
          <a:bodyPr>
            <a:normAutofit fontScale="90000"/>
          </a:bodyPr>
          <a:lstStyle/>
          <a:p>
            <a:pPr algn="l"/>
            <a:r>
              <a:rPr lang="en-IE" sz="4000" dirty="0">
                <a:solidFill>
                  <a:srgbClr val="00B0F0"/>
                </a:solidFill>
              </a:rPr>
              <a:t> </a:t>
            </a:r>
            <a:r>
              <a:rPr lang="en-IE" sz="4000" dirty="0">
                <a:solidFill>
                  <a:srgbClr val="0070C0"/>
                </a:solidFill>
              </a:rPr>
              <a:t>Research Project/ Internship/ Practicum - Requirements</a:t>
            </a:r>
          </a:p>
        </p:txBody>
      </p:sp>
    </p:spTree>
    <p:extLst>
      <p:ext uri="{BB962C8B-B14F-4D97-AF65-F5344CB8AC3E}">
        <p14:creationId xmlns:p14="http://schemas.microsoft.com/office/powerpoint/2010/main" val="2726186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38" y="548680"/>
            <a:ext cx="8686800" cy="1080120"/>
          </a:xfrm>
        </p:spPr>
        <p:txBody>
          <a:bodyPr>
            <a:normAutofit fontScale="90000"/>
          </a:bodyPr>
          <a:lstStyle/>
          <a:p>
            <a:r>
              <a:rPr lang="en-IE" dirty="0">
                <a:solidFill>
                  <a:srgbClr val="0070C0"/>
                </a:solidFill>
              </a:rPr>
              <a:t>Marking Scheme – Research Project </a:t>
            </a:r>
            <a:br>
              <a:rPr lang="en-IE" dirty="0">
                <a:solidFill>
                  <a:srgbClr val="0070C0"/>
                </a:solidFill>
              </a:rPr>
            </a:br>
            <a:r>
              <a:rPr lang="en-IE" sz="3600" dirty="0">
                <a:solidFill>
                  <a:srgbClr val="0070C0"/>
                </a:solidFill>
              </a:rPr>
              <a:t>MSc Data Analytics (J</a:t>
            </a:r>
            <a:r>
              <a:rPr lang="en-US" sz="3600" dirty="0">
                <a:solidFill>
                  <a:srgbClr val="0070C0"/>
                </a:solidFill>
                <a:ea typeface="Calibri" panose="020F0502020204030204" pitchFamily="34" charset="0"/>
                <a:cs typeface="Times New Roman" panose="02020603050405020304" pitchFamily="18" charset="0"/>
              </a:rPr>
              <a:t>an 23/Sept 23/Jan 24 intake) doing Research Project</a:t>
            </a:r>
            <a:endParaRPr lang="en-IE" sz="2000" dirty="0">
              <a:solidFill>
                <a:srgbClr val="0070C0"/>
              </a:solidFill>
            </a:endParaRPr>
          </a:p>
        </p:txBody>
      </p:sp>
      <p:pic>
        <p:nvPicPr>
          <p:cNvPr id="5" name="Picture 4"/>
          <p:cNvPicPr>
            <a:picLocks noChangeAspect="1"/>
          </p:cNvPicPr>
          <p:nvPr/>
        </p:nvPicPr>
        <p:blipFill>
          <a:blip r:embed="rId2"/>
          <a:stretch>
            <a:fillRect/>
          </a:stretch>
        </p:blipFill>
        <p:spPr>
          <a:xfrm>
            <a:off x="470763" y="1916832"/>
            <a:ext cx="7800110" cy="4133791"/>
          </a:xfrm>
          <a:prstGeom prst="rect">
            <a:avLst/>
          </a:prstGeom>
        </p:spPr>
      </p:pic>
    </p:spTree>
    <p:extLst>
      <p:ext uri="{BB962C8B-B14F-4D97-AF65-F5344CB8AC3E}">
        <p14:creationId xmlns:p14="http://schemas.microsoft.com/office/powerpoint/2010/main" val="1256961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2135"/>
            <a:ext cx="8686800" cy="1202648"/>
          </a:xfrm>
        </p:spPr>
        <p:txBody>
          <a:bodyPr>
            <a:normAutofit fontScale="90000"/>
          </a:bodyPr>
          <a:lstStyle/>
          <a:p>
            <a:pPr algn="l"/>
            <a:r>
              <a:rPr lang="en-IE" dirty="0">
                <a:solidFill>
                  <a:srgbClr val="0070C0"/>
                </a:solidFill>
              </a:rPr>
              <a:t>Marking Scheme – Practicum/ Internship</a:t>
            </a:r>
            <a:br>
              <a:rPr lang="en-IE" dirty="0">
                <a:solidFill>
                  <a:srgbClr val="0070C0"/>
                </a:solidFill>
              </a:rPr>
            </a:br>
            <a:r>
              <a:rPr lang="en-IE" sz="2700" dirty="0">
                <a:solidFill>
                  <a:srgbClr val="0070C0"/>
                </a:solidFill>
              </a:rPr>
              <a:t>MSc AI, MSc AI for Business, MSc Fintech, MSc Cybersecurity </a:t>
            </a:r>
          </a:p>
        </p:txBody>
      </p:sp>
      <p:sp>
        <p:nvSpPr>
          <p:cNvPr id="4" name="TextBox 3">
            <a:extLst>
              <a:ext uri="{FF2B5EF4-FFF2-40B4-BE49-F238E27FC236}">
                <a16:creationId xmlns:a16="http://schemas.microsoft.com/office/drawing/2014/main" id="{CA288169-9B8A-9899-2F79-EFD4465A339C}"/>
              </a:ext>
            </a:extLst>
          </p:cNvPr>
          <p:cNvSpPr txBox="1"/>
          <p:nvPr/>
        </p:nvSpPr>
        <p:spPr>
          <a:xfrm>
            <a:off x="7968952" y="2467635"/>
            <a:ext cx="1175048" cy="338554"/>
          </a:xfrm>
          <a:prstGeom prst="rect">
            <a:avLst/>
          </a:prstGeom>
          <a:noFill/>
        </p:spPr>
        <p:txBody>
          <a:bodyPr wrap="square" rtlCol="0">
            <a:spAutoFit/>
          </a:bodyPr>
          <a:lstStyle/>
          <a:p>
            <a:r>
              <a:rPr lang="en-US" sz="1600" dirty="0">
                <a:solidFill>
                  <a:srgbClr val="FFC000"/>
                </a:solidFill>
              </a:rPr>
              <a:t>Completed</a:t>
            </a:r>
            <a:endParaRPr lang="en-IE" sz="1600" dirty="0">
              <a:solidFill>
                <a:srgbClr val="FFC000"/>
              </a:solidFill>
            </a:endParaRPr>
          </a:p>
        </p:txBody>
      </p:sp>
      <p:cxnSp>
        <p:nvCxnSpPr>
          <p:cNvPr id="6" name="Straight Arrow Connector 5">
            <a:extLst>
              <a:ext uri="{FF2B5EF4-FFF2-40B4-BE49-F238E27FC236}">
                <a16:creationId xmlns:a16="http://schemas.microsoft.com/office/drawing/2014/main" id="{2508F717-52C1-AB99-228A-4C48DC0242EB}"/>
              </a:ext>
            </a:extLst>
          </p:cNvPr>
          <p:cNvCxnSpPr/>
          <p:nvPr/>
        </p:nvCxnSpPr>
        <p:spPr>
          <a:xfrm flipH="1">
            <a:off x="7152690" y="2636912"/>
            <a:ext cx="626301"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8A17444-DF89-F85A-AF1A-F5EA7B97E513}"/>
              </a:ext>
            </a:extLst>
          </p:cNvPr>
          <p:cNvSpPr>
            <a:spLocks noGrp="1"/>
          </p:cNvSpPr>
          <p:nvPr>
            <p:ph idx="1"/>
          </p:nvPr>
        </p:nvSpPr>
        <p:spPr>
          <a:xfrm>
            <a:off x="55878" y="5624057"/>
            <a:ext cx="8878295" cy="856627"/>
          </a:xfrm>
        </p:spPr>
        <p:txBody>
          <a:bodyPr>
            <a:normAutofit fontScale="92500" lnSpcReduction="20000"/>
          </a:bodyPr>
          <a:lstStyle/>
          <a:p>
            <a:pPr>
              <a:spcBef>
                <a:spcPts val="1200"/>
              </a:spcBef>
            </a:pPr>
            <a:r>
              <a:rPr lang="en-US" sz="2200" b="1" dirty="0"/>
              <a:t>Weekly activity reports : </a:t>
            </a:r>
            <a:r>
              <a:rPr lang="en-US" sz="2200" dirty="0"/>
              <a:t>Students must provide in the supervision meetings a summary  of weekly research activities performed on the project over the entire semester. These reports must be submitted on Moodle page, weekly</a:t>
            </a:r>
          </a:p>
        </p:txBody>
      </p:sp>
      <p:pic>
        <p:nvPicPr>
          <p:cNvPr id="14" name="Picture 13">
            <a:extLst>
              <a:ext uri="{FF2B5EF4-FFF2-40B4-BE49-F238E27FC236}">
                <a16:creationId xmlns:a16="http://schemas.microsoft.com/office/drawing/2014/main" id="{9DC588B5-676B-4431-3FE2-4B11F87B6903}"/>
              </a:ext>
            </a:extLst>
          </p:cNvPr>
          <p:cNvPicPr>
            <a:picLocks noChangeAspect="1"/>
          </p:cNvPicPr>
          <p:nvPr/>
        </p:nvPicPr>
        <p:blipFill>
          <a:blip r:embed="rId2"/>
          <a:stretch>
            <a:fillRect/>
          </a:stretch>
        </p:blipFill>
        <p:spPr>
          <a:xfrm>
            <a:off x="593738" y="1529444"/>
            <a:ext cx="6558952" cy="3799111"/>
          </a:xfrm>
          <a:prstGeom prst="rect">
            <a:avLst/>
          </a:prstGeom>
        </p:spPr>
      </p:pic>
    </p:spTree>
    <p:extLst>
      <p:ext uri="{BB962C8B-B14F-4D97-AF65-F5344CB8AC3E}">
        <p14:creationId xmlns:p14="http://schemas.microsoft.com/office/powerpoint/2010/main" val="2305688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2134"/>
            <a:ext cx="8447856" cy="1907676"/>
          </a:xfrm>
        </p:spPr>
        <p:txBody>
          <a:bodyPr>
            <a:normAutofit fontScale="90000"/>
          </a:bodyPr>
          <a:lstStyle/>
          <a:p>
            <a:pPr algn="l"/>
            <a:r>
              <a:rPr lang="en-IE" sz="3600" dirty="0">
                <a:solidFill>
                  <a:srgbClr val="0070C0"/>
                </a:solidFill>
              </a:rPr>
              <a:t>Marking Scheme – Research Practicum/ Internship</a:t>
            </a:r>
            <a:br>
              <a:rPr lang="en-IE" dirty="0">
                <a:solidFill>
                  <a:srgbClr val="0070C0"/>
                </a:solidFill>
              </a:rPr>
            </a:br>
            <a:r>
              <a:rPr lang="en-IE" sz="2700" dirty="0">
                <a:solidFill>
                  <a:srgbClr val="0070C0"/>
                </a:solidFill>
              </a:rPr>
              <a:t>MSc Data Analytics (</a:t>
            </a:r>
            <a:r>
              <a:rPr lang="en-US" sz="2700" dirty="0">
                <a:solidFill>
                  <a:srgbClr val="0070C0"/>
                </a:solidFill>
                <a:effectLst/>
                <a:ea typeface="Calibri" panose="020F0502020204030204" pitchFamily="34" charset="0"/>
                <a:cs typeface="Times New Roman" panose="02020603050405020304" pitchFamily="18" charset="0"/>
              </a:rPr>
              <a:t>Sept 24 intake and onwards)</a:t>
            </a:r>
            <a:br>
              <a:rPr lang="en-US" sz="2700" dirty="0">
                <a:solidFill>
                  <a:srgbClr val="0070C0"/>
                </a:solidFill>
                <a:effectLst/>
                <a:ea typeface="Calibri" panose="020F0502020204030204" pitchFamily="34" charset="0"/>
                <a:cs typeface="Times New Roman" panose="02020603050405020304" pitchFamily="18" charset="0"/>
              </a:rPr>
            </a:br>
            <a:r>
              <a:rPr lang="en-US" sz="2700" dirty="0">
                <a:solidFill>
                  <a:srgbClr val="0070C0"/>
                </a:solidFill>
                <a:effectLst/>
                <a:ea typeface="Calibri" panose="020F0502020204030204" pitchFamily="34" charset="0"/>
                <a:cs typeface="Times New Roman" panose="02020603050405020304" pitchFamily="18" charset="0"/>
              </a:rPr>
              <a:t>MSc Open Data Practice</a:t>
            </a:r>
            <a:endParaRPr lang="en-IE" sz="2700" dirty="0">
              <a:solidFill>
                <a:srgbClr val="0070C0"/>
              </a:solidFill>
            </a:endParaRPr>
          </a:p>
        </p:txBody>
      </p:sp>
      <p:sp>
        <p:nvSpPr>
          <p:cNvPr id="4" name="TextBox 3">
            <a:extLst>
              <a:ext uri="{FF2B5EF4-FFF2-40B4-BE49-F238E27FC236}">
                <a16:creationId xmlns:a16="http://schemas.microsoft.com/office/drawing/2014/main" id="{CA288169-9B8A-9899-2F79-EFD4465A339C}"/>
              </a:ext>
            </a:extLst>
          </p:cNvPr>
          <p:cNvSpPr txBox="1"/>
          <p:nvPr/>
        </p:nvSpPr>
        <p:spPr>
          <a:xfrm>
            <a:off x="7761539" y="2874422"/>
            <a:ext cx="1175048" cy="338554"/>
          </a:xfrm>
          <a:prstGeom prst="rect">
            <a:avLst/>
          </a:prstGeom>
          <a:noFill/>
        </p:spPr>
        <p:txBody>
          <a:bodyPr wrap="square" rtlCol="0">
            <a:spAutoFit/>
          </a:bodyPr>
          <a:lstStyle/>
          <a:p>
            <a:r>
              <a:rPr lang="en-US" sz="1600" dirty="0">
                <a:solidFill>
                  <a:srgbClr val="FFC000"/>
                </a:solidFill>
              </a:rPr>
              <a:t>Completed</a:t>
            </a:r>
            <a:endParaRPr lang="en-IE" sz="1600" dirty="0">
              <a:solidFill>
                <a:srgbClr val="FFC000"/>
              </a:solidFill>
            </a:endParaRPr>
          </a:p>
        </p:txBody>
      </p:sp>
      <p:cxnSp>
        <p:nvCxnSpPr>
          <p:cNvPr id="6" name="Straight Arrow Connector 5">
            <a:extLst>
              <a:ext uri="{FF2B5EF4-FFF2-40B4-BE49-F238E27FC236}">
                <a16:creationId xmlns:a16="http://schemas.microsoft.com/office/drawing/2014/main" id="{2508F717-52C1-AB99-228A-4C48DC0242EB}"/>
              </a:ext>
            </a:extLst>
          </p:cNvPr>
          <p:cNvCxnSpPr/>
          <p:nvPr/>
        </p:nvCxnSpPr>
        <p:spPr>
          <a:xfrm flipH="1">
            <a:off x="7395914" y="3212976"/>
            <a:ext cx="626301"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8A17444-DF89-F85A-AF1A-F5EA7B97E513}"/>
              </a:ext>
            </a:extLst>
          </p:cNvPr>
          <p:cNvSpPr>
            <a:spLocks noGrp="1"/>
          </p:cNvSpPr>
          <p:nvPr>
            <p:ph idx="1"/>
          </p:nvPr>
        </p:nvSpPr>
        <p:spPr>
          <a:xfrm>
            <a:off x="132852" y="5906354"/>
            <a:ext cx="8878295" cy="856627"/>
          </a:xfrm>
        </p:spPr>
        <p:txBody>
          <a:bodyPr>
            <a:normAutofit fontScale="92500" lnSpcReduction="20000"/>
          </a:bodyPr>
          <a:lstStyle/>
          <a:p>
            <a:pPr>
              <a:spcBef>
                <a:spcPts val="1200"/>
              </a:spcBef>
            </a:pPr>
            <a:r>
              <a:rPr lang="en-US" sz="2200" b="1" dirty="0"/>
              <a:t>Weekly activity reports : </a:t>
            </a:r>
            <a:r>
              <a:rPr lang="en-US" sz="2200" dirty="0"/>
              <a:t>Students must provide in the supervision meetings a summary  of weekly research activities performed on the project over the entire semester. These reports must be submitted on Moodle page, weekly.</a:t>
            </a:r>
          </a:p>
        </p:txBody>
      </p:sp>
      <p:pic>
        <p:nvPicPr>
          <p:cNvPr id="5" name="Picture 4">
            <a:extLst>
              <a:ext uri="{FF2B5EF4-FFF2-40B4-BE49-F238E27FC236}">
                <a16:creationId xmlns:a16="http://schemas.microsoft.com/office/drawing/2014/main" id="{B33068D1-468F-AC8A-4474-FD64A5BBC319}"/>
              </a:ext>
            </a:extLst>
          </p:cNvPr>
          <p:cNvPicPr>
            <a:picLocks noChangeAspect="1"/>
          </p:cNvPicPr>
          <p:nvPr/>
        </p:nvPicPr>
        <p:blipFill>
          <a:blip r:embed="rId2"/>
          <a:stretch>
            <a:fillRect/>
          </a:stretch>
        </p:blipFill>
        <p:spPr>
          <a:xfrm>
            <a:off x="411413" y="2189813"/>
            <a:ext cx="7167314" cy="3595070"/>
          </a:xfrm>
          <a:prstGeom prst="rect">
            <a:avLst/>
          </a:prstGeom>
        </p:spPr>
      </p:pic>
    </p:spTree>
    <p:extLst>
      <p:ext uri="{BB962C8B-B14F-4D97-AF65-F5344CB8AC3E}">
        <p14:creationId xmlns:p14="http://schemas.microsoft.com/office/powerpoint/2010/main" val="4144336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8D88A090-C211-436B-9CBC-912E7709B2F6}"/>
              </a:ext>
            </a:extLst>
          </p:cNvPr>
          <p:cNvGraphicFramePr>
            <a:graphicFrameLocks noGrp="1"/>
          </p:cNvGraphicFramePr>
          <p:nvPr/>
        </p:nvGraphicFramePr>
        <p:xfrm>
          <a:off x="1646245" y="1824654"/>
          <a:ext cx="5761914" cy="2134728"/>
        </p:xfrm>
        <a:graphic>
          <a:graphicData uri="http://schemas.openxmlformats.org/drawingml/2006/table">
            <a:tbl>
              <a:tblPr firstRow="1" firstCol="1" bandRow="1"/>
              <a:tblGrid>
                <a:gridCol w="3712901">
                  <a:extLst>
                    <a:ext uri="{9D8B030D-6E8A-4147-A177-3AD203B41FA5}">
                      <a16:colId xmlns:a16="http://schemas.microsoft.com/office/drawing/2014/main" val="2218991821"/>
                    </a:ext>
                  </a:extLst>
                </a:gridCol>
                <a:gridCol w="2049013">
                  <a:extLst>
                    <a:ext uri="{9D8B030D-6E8A-4147-A177-3AD203B41FA5}">
                      <a16:colId xmlns:a16="http://schemas.microsoft.com/office/drawing/2014/main" val="2079487931"/>
                    </a:ext>
                  </a:extLst>
                </a:gridCol>
              </a:tblGrid>
              <a:tr h="711576">
                <a:tc>
                  <a:txBody>
                    <a:bodyPr/>
                    <a:lstStyle/>
                    <a:p>
                      <a:pPr marL="301752" indent="-9144" algn="just" fontAlgn="t">
                        <a:lnSpc>
                          <a:spcPct val="103000"/>
                        </a:lnSpc>
                        <a:spcBef>
                          <a:spcPts val="0"/>
                        </a:spcBef>
                        <a:spcAft>
                          <a:spcPts val="60"/>
                        </a:spcAft>
                      </a:pPr>
                      <a:r>
                        <a:rPr lang="en-IE" sz="2000" b="1"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Assessment Description</a:t>
                      </a:r>
                      <a:endParaRPr lang="en-IE" sz="2000" b="0" i="0" u="none" strike="noStrike" dirty="0">
                        <a:effectLst/>
                        <a:latin typeface="Arial" panose="020B0604020202020204" pitchFamily="34" charset="0"/>
                      </a:endParaRPr>
                    </a:p>
                  </a:txBody>
                  <a:tcPr marL="84309" marR="84309" marT="11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1752" indent="-9144" algn="just" fontAlgn="t">
                        <a:lnSpc>
                          <a:spcPct val="103000"/>
                        </a:lnSpc>
                        <a:spcBef>
                          <a:spcPts val="0"/>
                        </a:spcBef>
                        <a:spcAft>
                          <a:spcPts val="60"/>
                        </a:spcAft>
                      </a:pPr>
                      <a:r>
                        <a:rPr lang="en-IE" sz="2000" b="1"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 of total</a:t>
                      </a:r>
                      <a:endParaRPr lang="en-IE" sz="2000" b="0" i="0" u="none" strike="noStrike" dirty="0">
                        <a:effectLst/>
                        <a:latin typeface="Arial" panose="020B0604020202020204" pitchFamily="34" charset="0"/>
                      </a:endParaRPr>
                    </a:p>
                  </a:txBody>
                  <a:tcPr marL="84309" marR="84309" marT="11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0954351"/>
                  </a:ext>
                </a:extLst>
              </a:tr>
              <a:tr h="711576">
                <a:tc>
                  <a:txBody>
                    <a:bodyPr/>
                    <a:lstStyle/>
                    <a:p>
                      <a:pPr marL="301752" indent="-9144" algn="just" fontAlgn="t">
                        <a:lnSpc>
                          <a:spcPct val="103000"/>
                        </a:lnSpc>
                        <a:spcBef>
                          <a:spcPts val="0"/>
                        </a:spcBef>
                        <a:spcAft>
                          <a:spcPts val="60"/>
                        </a:spcAft>
                      </a:pPr>
                      <a:r>
                        <a:rPr lang="en-IE" sz="2000" b="0"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Weekly progress monitoring</a:t>
                      </a:r>
                      <a:endParaRPr lang="en-IE" sz="2000" b="0" i="0" u="none" strike="noStrike" dirty="0">
                        <a:effectLst/>
                        <a:latin typeface="Arial" panose="020B0604020202020204" pitchFamily="34" charset="0"/>
                      </a:endParaRPr>
                    </a:p>
                  </a:txBody>
                  <a:tcPr marL="84309" marR="84309" marT="11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1752" indent="-9144" algn="just" fontAlgn="t">
                        <a:lnSpc>
                          <a:spcPct val="103000"/>
                        </a:lnSpc>
                        <a:spcBef>
                          <a:spcPts val="0"/>
                        </a:spcBef>
                        <a:spcAft>
                          <a:spcPts val="60"/>
                        </a:spcAft>
                      </a:pPr>
                      <a:r>
                        <a:rPr lang="en-IE" sz="2000" b="0"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12%</a:t>
                      </a:r>
                      <a:endParaRPr lang="en-IE" sz="2000" b="0" i="0" u="none" strike="noStrike" dirty="0">
                        <a:effectLst/>
                        <a:latin typeface="Arial" panose="020B0604020202020204" pitchFamily="34" charset="0"/>
                      </a:endParaRPr>
                    </a:p>
                  </a:txBody>
                  <a:tcPr marL="84309" marR="84309" marT="11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5054434"/>
                  </a:ext>
                </a:extLst>
              </a:tr>
              <a:tr h="711576">
                <a:tc>
                  <a:txBody>
                    <a:bodyPr/>
                    <a:lstStyle/>
                    <a:p>
                      <a:pPr marL="301752" indent="-9144" algn="just" fontAlgn="t">
                        <a:lnSpc>
                          <a:spcPct val="103000"/>
                        </a:lnSpc>
                        <a:spcBef>
                          <a:spcPts val="0"/>
                        </a:spcBef>
                        <a:spcAft>
                          <a:spcPts val="60"/>
                        </a:spcAft>
                      </a:pPr>
                      <a:r>
                        <a:rPr lang="en-IE" sz="2000" b="0"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Project Final Submission</a:t>
                      </a:r>
                      <a:endParaRPr lang="en-IE" sz="2000" b="0" i="0" u="none" strike="noStrike" dirty="0">
                        <a:effectLst/>
                        <a:latin typeface="Arial" panose="020B0604020202020204" pitchFamily="34" charset="0"/>
                      </a:endParaRPr>
                    </a:p>
                  </a:txBody>
                  <a:tcPr marL="84309" marR="84309" marT="11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1752" indent="-9144" algn="just" fontAlgn="t">
                        <a:lnSpc>
                          <a:spcPct val="103000"/>
                        </a:lnSpc>
                        <a:spcBef>
                          <a:spcPts val="0"/>
                        </a:spcBef>
                        <a:spcAft>
                          <a:spcPts val="60"/>
                        </a:spcAft>
                      </a:pPr>
                      <a:r>
                        <a:rPr lang="en-IE" sz="2000" b="0"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88%</a:t>
                      </a:r>
                      <a:endParaRPr lang="en-IE" sz="2000" b="0" i="0" u="none" strike="noStrike" dirty="0">
                        <a:effectLst/>
                        <a:latin typeface="Arial" panose="020B0604020202020204" pitchFamily="34" charset="0"/>
                      </a:endParaRPr>
                    </a:p>
                  </a:txBody>
                  <a:tcPr marL="84309" marR="84309" marT="1171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0940471"/>
                  </a:ext>
                </a:extLst>
              </a:tr>
            </a:tbl>
          </a:graphicData>
        </a:graphic>
      </p:graphicFrame>
      <p:sp>
        <p:nvSpPr>
          <p:cNvPr id="14" name="Content Placeholder 2">
            <a:extLst>
              <a:ext uri="{FF2B5EF4-FFF2-40B4-BE49-F238E27FC236}">
                <a16:creationId xmlns:a16="http://schemas.microsoft.com/office/drawing/2014/main" id="{290E9D2A-1C10-4317-B87D-37D248B0B75D}"/>
              </a:ext>
            </a:extLst>
          </p:cNvPr>
          <p:cNvSpPr>
            <a:spLocks noGrp="1"/>
          </p:cNvSpPr>
          <p:nvPr>
            <p:ph idx="1"/>
          </p:nvPr>
        </p:nvSpPr>
        <p:spPr>
          <a:xfrm>
            <a:off x="551170" y="4732447"/>
            <a:ext cx="8229600" cy="856627"/>
          </a:xfrm>
        </p:spPr>
        <p:txBody>
          <a:bodyPr>
            <a:normAutofit fontScale="85000" lnSpcReduction="20000"/>
          </a:bodyPr>
          <a:lstStyle/>
          <a:p>
            <a:pPr>
              <a:spcBef>
                <a:spcPts val="1200"/>
              </a:spcBef>
            </a:pPr>
            <a:r>
              <a:rPr lang="en-US" sz="2200" b="1" dirty="0"/>
              <a:t>Weekly progress monitoring assessment: </a:t>
            </a:r>
            <a:r>
              <a:rPr lang="en-US" sz="2200" dirty="0"/>
              <a:t>Students must provide a summary  of weekly research activities performed on the project during the entire semester. These report must be submitted on Moodle page, weekly.</a:t>
            </a:r>
          </a:p>
        </p:txBody>
      </p:sp>
      <p:sp>
        <p:nvSpPr>
          <p:cNvPr id="9" name="Title 1">
            <a:extLst>
              <a:ext uri="{FF2B5EF4-FFF2-40B4-BE49-F238E27FC236}">
                <a16:creationId xmlns:a16="http://schemas.microsoft.com/office/drawing/2014/main" id="{C9234607-2FBC-4BF7-9EE1-7DB4CB69E525}"/>
              </a:ext>
            </a:extLst>
          </p:cNvPr>
          <p:cNvSpPr>
            <a:spLocks noGrp="1"/>
          </p:cNvSpPr>
          <p:nvPr>
            <p:ph type="title"/>
          </p:nvPr>
        </p:nvSpPr>
        <p:spPr>
          <a:xfrm>
            <a:off x="457200" y="274638"/>
            <a:ext cx="8229600" cy="1143000"/>
          </a:xfrm>
        </p:spPr>
        <p:txBody>
          <a:bodyPr>
            <a:normAutofit fontScale="90000"/>
          </a:bodyPr>
          <a:lstStyle/>
          <a:p>
            <a:r>
              <a:rPr lang="en-IE" dirty="0">
                <a:solidFill>
                  <a:srgbClr val="0070C0"/>
                </a:solidFill>
              </a:rPr>
              <a:t>Marking Scheme – Research Project </a:t>
            </a:r>
            <a:br>
              <a:rPr lang="en-IE" dirty="0">
                <a:solidFill>
                  <a:srgbClr val="0070C0"/>
                </a:solidFill>
              </a:rPr>
            </a:br>
            <a:r>
              <a:rPr lang="en-IE" sz="3600" dirty="0">
                <a:solidFill>
                  <a:srgbClr val="0070C0"/>
                </a:solidFill>
              </a:rPr>
              <a:t>MSc Cloud Computing </a:t>
            </a:r>
            <a:r>
              <a:rPr lang="en-IE" sz="3600" u="sng" dirty="0">
                <a:solidFill>
                  <a:srgbClr val="0070C0"/>
                </a:solidFill>
              </a:rPr>
              <a:t>ONLY</a:t>
            </a:r>
            <a:endParaRPr lang="en-IE" sz="3600" u="sng" dirty="0"/>
          </a:p>
        </p:txBody>
      </p:sp>
    </p:spTree>
    <p:extLst>
      <p:ext uri="{BB962C8B-B14F-4D97-AF65-F5344CB8AC3E}">
        <p14:creationId xmlns:p14="http://schemas.microsoft.com/office/powerpoint/2010/main" val="1195846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6B4EA9-4F61-4CBD-8040-D3A0765774AE}"/>
              </a:ext>
            </a:extLst>
          </p:cNvPr>
          <p:cNvPicPr>
            <a:picLocks noChangeAspect="1"/>
          </p:cNvPicPr>
          <p:nvPr/>
        </p:nvPicPr>
        <p:blipFill>
          <a:blip r:embed="rId2"/>
          <a:stretch>
            <a:fillRect/>
          </a:stretch>
        </p:blipFill>
        <p:spPr>
          <a:xfrm>
            <a:off x="732979" y="1628800"/>
            <a:ext cx="7982697" cy="4063227"/>
          </a:xfrm>
          <a:prstGeom prst="rect">
            <a:avLst/>
          </a:prstGeom>
        </p:spPr>
      </p:pic>
      <p:sp>
        <p:nvSpPr>
          <p:cNvPr id="7" name="Title 1">
            <a:extLst>
              <a:ext uri="{FF2B5EF4-FFF2-40B4-BE49-F238E27FC236}">
                <a16:creationId xmlns:a16="http://schemas.microsoft.com/office/drawing/2014/main" id="{C5CBB596-72E3-4B63-BD28-2421684494C1}"/>
              </a:ext>
            </a:extLst>
          </p:cNvPr>
          <p:cNvSpPr>
            <a:spLocks noGrp="1"/>
          </p:cNvSpPr>
          <p:nvPr>
            <p:ph type="title"/>
          </p:nvPr>
        </p:nvSpPr>
        <p:spPr>
          <a:xfrm>
            <a:off x="457200" y="274638"/>
            <a:ext cx="8229600" cy="1143000"/>
          </a:xfrm>
        </p:spPr>
        <p:txBody>
          <a:bodyPr>
            <a:normAutofit fontScale="90000"/>
          </a:bodyPr>
          <a:lstStyle/>
          <a:p>
            <a:r>
              <a:rPr lang="en-IE" dirty="0">
                <a:solidFill>
                  <a:srgbClr val="0070C0"/>
                </a:solidFill>
              </a:rPr>
              <a:t>Marking Scheme – Research Project </a:t>
            </a:r>
            <a:br>
              <a:rPr lang="en-IE" dirty="0">
                <a:solidFill>
                  <a:srgbClr val="0070C0"/>
                </a:solidFill>
              </a:rPr>
            </a:br>
            <a:r>
              <a:rPr lang="en-IE" sz="3600" dirty="0">
                <a:solidFill>
                  <a:srgbClr val="0070C0"/>
                </a:solidFill>
              </a:rPr>
              <a:t>MSc Cloud Computing </a:t>
            </a:r>
            <a:r>
              <a:rPr lang="en-IE" sz="3600" u="sng" dirty="0">
                <a:solidFill>
                  <a:srgbClr val="0070C0"/>
                </a:solidFill>
              </a:rPr>
              <a:t>ONLY</a:t>
            </a:r>
            <a:endParaRPr lang="en-IE" sz="3600" u="sng" dirty="0"/>
          </a:p>
        </p:txBody>
      </p:sp>
      <p:sp>
        <p:nvSpPr>
          <p:cNvPr id="9" name="TextBox 8">
            <a:extLst>
              <a:ext uri="{FF2B5EF4-FFF2-40B4-BE49-F238E27FC236}">
                <a16:creationId xmlns:a16="http://schemas.microsoft.com/office/drawing/2014/main" id="{837F8C50-21E7-4E4A-B0ED-2A005368F96C}"/>
              </a:ext>
            </a:extLst>
          </p:cNvPr>
          <p:cNvSpPr txBox="1"/>
          <p:nvPr/>
        </p:nvSpPr>
        <p:spPr>
          <a:xfrm>
            <a:off x="685682" y="5903189"/>
            <a:ext cx="4572000" cy="409343"/>
          </a:xfrm>
          <a:prstGeom prst="rect">
            <a:avLst/>
          </a:prstGeom>
          <a:noFill/>
        </p:spPr>
        <p:txBody>
          <a:bodyPr wrap="square">
            <a:spAutoFit/>
          </a:bodyPr>
          <a:lstStyle/>
          <a:p>
            <a:pPr marL="301752" indent="-9144" algn="just" fontAlgn="t">
              <a:lnSpc>
                <a:spcPct val="103000"/>
              </a:lnSpc>
              <a:spcBef>
                <a:spcPts val="0"/>
              </a:spcBef>
              <a:spcAft>
                <a:spcPts val="60"/>
              </a:spcAft>
            </a:pPr>
            <a:r>
              <a:rPr lang="en-IE" sz="2000" b="0" i="0" u="none" strike="noStrike"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Note: Weekly progress reports – 12%</a:t>
            </a:r>
            <a:endParaRPr lang="en-IE" sz="2000" b="0" i="0" u="none" strike="noStrike" dirty="0">
              <a:effectLst/>
              <a:latin typeface="Arial" panose="020B0604020202020204" pitchFamily="34" charset="0"/>
            </a:endParaRPr>
          </a:p>
        </p:txBody>
      </p:sp>
    </p:spTree>
    <p:extLst>
      <p:ext uri="{BB962C8B-B14F-4D97-AF65-F5344CB8AC3E}">
        <p14:creationId xmlns:p14="http://schemas.microsoft.com/office/powerpoint/2010/main" val="1310494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18778" y="5156344"/>
            <a:ext cx="4762872" cy="400110"/>
          </a:xfrm>
          <a:prstGeom prst="rect">
            <a:avLst/>
          </a:prstGeom>
        </p:spPr>
        <p:txBody>
          <a:bodyPr wrap="square">
            <a:spAutoFit/>
          </a:bodyPr>
          <a:lstStyle/>
          <a:p>
            <a:r>
              <a:rPr lang="en-GB" sz="2000" b="1" dirty="0">
                <a:solidFill>
                  <a:schemeClr val="accent1">
                    <a:lumMod val="50000"/>
                  </a:schemeClr>
                </a:solidFill>
                <a:ea typeface="Calibri" panose="020F0502020204030204" pitchFamily="34" charset="0"/>
                <a:cs typeface="Arial" panose="020B0604020202020204" pitchFamily="34" charset="0"/>
              </a:rPr>
              <a:t>Declaration of Ethics Consideration Form</a:t>
            </a:r>
            <a:endParaRPr lang="en-IE" sz="2000" dirty="0">
              <a:solidFill>
                <a:schemeClr val="accent1">
                  <a:lumMod val="50000"/>
                </a:schemeClr>
              </a:solidFill>
            </a:endParaRPr>
          </a:p>
        </p:txBody>
      </p:sp>
      <p:sp>
        <p:nvSpPr>
          <p:cNvPr id="15" name="Rectangle 14"/>
          <p:cNvSpPr/>
          <p:nvPr/>
        </p:nvSpPr>
        <p:spPr>
          <a:xfrm>
            <a:off x="611560" y="6043106"/>
            <a:ext cx="3024336" cy="400110"/>
          </a:xfrm>
          <a:prstGeom prst="rect">
            <a:avLst/>
          </a:prstGeom>
        </p:spPr>
        <p:txBody>
          <a:bodyPr wrap="square">
            <a:spAutoFit/>
          </a:bodyPr>
          <a:lstStyle/>
          <a:p>
            <a:r>
              <a:rPr lang="en-GB" sz="2000" b="1" dirty="0">
                <a:solidFill>
                  <a:schemeClr val="accent1">
                    <a:lumMod val="50000"/>
                  </a:schemeClr>
                </a:solidFill>
                <a:ea typeface="Calibri" panose="020F0502020204030204" pitchFamily="34" charset="0"/>
                <a:cs typeface="Arial" panose="020B0604020202020204" pitchFamily="34" charset="0"/>
              </a:rPr>
              <a:t>Ethics Application Form</a:t>
            </a:r>
            <a:endParaRPr lang="en-IE" sz="2000" dirty="0">
              <a:solidFill>
                <a:schemeClr val="accent1">
                  <a:lumMod val="50000"/>
                </a:schemeClr>
              </a:solidFill>
            </a:endParaRPr>
          </a:p>
        </p:txBody>
      </p:sp>
      <p:sp>
        <p:nvSpPr>
          <p:cNvPr id="16" name="Down Arrow 15"/>
          <p:cNvSpPr/>
          <p:nvPr/>
        </p:nvSpPr>
        <p:spPr>
          <a:xfrm>
            <a:off x="1890480" y="4390416"/>
            <a:ext cx="278055" cy="653226"/>
          </a:xfrm>
          <a:prstGeom prst="downArrow">
            <a:avLst/>
          </a:prstGeom>
          <a:solidFill>
            <a:schemeClr val="accent2">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p>
        </p:txBody>
      </p:sp>
      <p:sp>
        <p:nvSpPr>
          <p:cNvPr id="18" name="Plus 17"/>
          <p:cNvSpPr/>
          <p:nvPr/>
        </p:nvSpPr>
        <p:spPr>
          <a:xfrm>
            <a:off x="1760440" y="5484593"/>
            <a:ext cx="538136" cy="551138"/>
          </a:xfrm>
          <a:prstGeom prst="mathPlus">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p>
        </p:txBody>
      </p:sp>
      <p:sp>
        <p:nvSpPr>
          <p:cNvPr id="17" name="Title 1"/>
          <p:cNvSpPr>
            <a:spLocks noGrp="1"/>
          </p:cNvSpPr>
          <p:nvPr>
            <p:ph type="title"/>
          </p:nvPr>
        </p:nvSpPr>
        <p:spPr>
          <a:xfrm>
            <a:off x="313184" y="102879"/>
            <a:ext cx="8229600" cy="905483"/>
          </a:xfrm>
        </p:spPr>
        <p:txBody>
          <a:bodyPr/>
          <a:lstStyle/>
          <a:p>
            <a:r>
              <a:rPr lang="en-IE" dirty="0">
                <a:solidFill>
                  <a:srgbClr val="0070C0"/>
                </a:solidFill>
              </a:rPr>
              <a:t>Ethics Consideration</a:t>
            </a:r>
          </a:p>
        </p:txBody>
      </p:sp>
      <p:grpSp>
        <p:nvGrpSpPr>
          <p:cNvPr id="19" name="Group 18"/>
          <p:cNvGrpSpPr/>
          <p:nvPr/>
        </p:nvGrpSpPr>
        <p:grpSpPr>
          <a:xfrm>
            <a:off x="158394" y="1752324"/>
            <a:ext cx="3970784" cy="2444214"/>
            <a:chOff x="1028701" y="2723889"/>
            <a:chExt cx="4205220" cy="3509987"/>
          </a:xfrm>
        </p:grpSpPr>
        <p:sp>
          <p:nvSpPr>
            <p:cNvPr id="20" name="TextBox 19"/>
            <p:cNvSpPr txBox="1"/>
            <p:nvPr/>
          </p:nvSpPr>
          <p:spPr>
            <a:xfrm>
              <a:off x="1028701" y="2723889"/>
              <a:ext cx="4205220" cy="65815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IE" sz="2200" b="1" i="1" dirty="0">
                  <a:solidFill>
                    <a:srgbClr val="C00000"/>
                  </a:solidFill>
                </a:rPr>
                <a:t>Scenario 1</a:t>
              </a:r>
            </a:p>
          </p:txBody>
        </p:sp>
        <p:sp>
          <p:nvSpPr>
            <p:cNvPr id="21" name="TextBox 20"/>
            <p:cNvSpPr txBox="1"/>
            <p:nvPr/>
          </p:nvSpPr>
          <p:spPr>
            <a:xfrm>
              <a:off x="1028701" y="3449408"/>
              <a:ext cx="4205220" cy="2784468"/>
            </a:xfrm>
            <a:prstGeom prst="rect">
              <a:avLst/>
            </a:prstGeom>
            <a:solidFill>
              <a:schemeClr val="accent2">
                <a:lumMod val="20000"/>
                <a:lumOff val="80000"/>
              </a:schemeClr>
            </a:solidFill>
            <a:ln w="28575" cmpd="dbl">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GB" sz="2000" b="1" dirty="0"/>
                <a:t>Human participants are involved in your study</a:t>
              </a:r>
            </a:p>
            <a:p>
              <a:pPr marL="214313" indent="-214313">
                <a:buFont typeface="Arial" panose="020B0604020202020204" pitchFamily="34" charset="0"/>
                <a:buChar char="•"/>
              </a:pPr>
              <a:r>
                <a:rPr lang="en-IE" sz="2000" dirty="0"/>
                <a:t>Requirement specification stage</a:t>
              </a:r>
            </a:p>
            <a:p>
              <a:pPr marL="214313" indent="-214313">
                <a:buFont typeface="Arial" panose="020B0604020202020204" pitchFamily="34" charset="0"/>
                <a:buChar char="•"/>
              </a:pPr>
              <a:r>
                <a:rPr lang="en-IE" sz="2000" dirty="0"/>
                <a:t>App Interface design feedback</a:t>
              </a:r>
            </a:p>
            <a:p>
              <a:pPr marL="214313" indent="-214313">
                <a:buFont typeface="Arial" panose="020B0604020202020204" pitchFamily="34" charset="0"/>
                <a:buChar char="•"/>
              </a:pPr>
              <a:r>
                <a:rPr lang="en-IE" sz="2000" dirty="0"/>
                <a:t>Evaluation and Testing stage</a:t>
              </a:r>
            </a:p>
            <a:p>
              <a:pPr marL="214313" indent="-214313">
                <a:buFont typeface="Arial" panose="020B0604020202020204" pitchFamily="34" charset="0"/>
                <a:buChar char="•"/>
              </a:pPr>
              <a:r>
                <a:rPr lang="en-IE" sz="2000" dirty="0"/>
                <a:t>Surveys and Interviews</a:t>
              </a:r>
            </a:p>
          </p:txBody>
        </p:sp>
      </p:grpSp>
      <p:sp>
        <p:nvSpPr>
          <p:cNvPr id="2" name="Rectangle 1">
            <a:extLst>
              <a:ext uri="{FF2B5EF4-FFF2-40B4-BE49-F238E27FC236}">
                <a16:creationId xmlns:a16="http://schemas.microsoft.com/office/drawing/2014/main" id="{4CD01A00-BBA3-E560-857E-167D7ED05C55}"/>
              </a:ext>
            </a:extLst>
          </p:cNvPr>
          <p:cNvSpPr/>
          <p:nvPr/>
        </p:nvSpPr>
        <p:spPr>
          <a:xfrm>
            <a:off x="4716016" y="2078031"/>
            <a:ext cx="3970784" cy="1477328"/>
          </a:xfrm>
          <a:prstGeom prst="rect">
            <a:avLst/>
          </a:prstGeom>
        </p:spPr>
        <p:txBody>
          <a:bodyPr wrap="square">
            <a:spAutoFit/>
          </a:bodyPr>
          <a:lstStyle/>
          <a:p>
            <a:pPr marL="214313" indent="-214313">
              <a:buFont typeface="Arial" panose="020B0604020202020204" pitchFamily="34" charset="0"/>
              <a:buChar char="•"/>
            </a:pPr>
            <a:r>
              <a:rPr lang="en-GB" b="1" dirty="0">
                <a:solidFill>
                  <a:srgbClr val="C00000"/>
                </a:solidFill>
                <a:latin typeface="Verdana" panose="020B0604030504040204" pitchFamily="34" charset="0"/>
                <a:ea typeface="Calibri" panose="020F0502020204030204" pitchFamily="34" charset="0"/>
                <a:cs typeface="Arial" panose="020B0604020202020204" pitchFamily="34" charset="0"/>
              </a:rPr>
              <a:t>Primary data</a:t>
            </a:r>
            <a:r>
              <a:rPr lang="en-GB" dirty="0">
                <a:latin typeface="Verdana" panose="020B0604030504040204" pitchFamily="34" charset="0"/>
                <a:ea typeface="Calibri" panose="020F0502020204030204" pitchFamily="34" charset="0"/>
                <a:cs typeface="Arial" panose="020B0604020202020204" pitchFamily="34" charset="0"/>
              </a:rPr>
              <a:t> – data collected by the investigator conducting the research/work (e.g. measurements, interviews, tests)</a:t>
            </a:r>
            <a:endParaRPr lang="en-IE" dirty="0"/>
          </a:p>
        </p:txBody>
      </p:sp>
      <p:sp>
        <p:nvSpPr>
          <p:cNvPr id="5" name="Content Placeholder 2">
            <a:extLst>
              <a:ext uri="{FF2B5EF4-FFF2-40B4-BE49-F238E27FC236}">
                <a16:creationId xmlns:a16="http://schemas.microsoft.com/office/drawing/2014/main" id="{89ABAD16-CBFA-647F-975E-70421F861CB5}"/>
              </a:ext>
            </a:extLst>
          </p:cNvPr>
          <p:cNvSpPr>
            <a:spLocks noGrp="1"/>
          </p:cNvSpPr>
          <p:nvPr>
            <p:ph idx="1"/>
          </p:nvPr>
        </p:nvSpPr>
        <p:spPr>
          <a:xfrm>
            <a:off x="313184" y="846840"/>
            <a:ext cx="7886700" cy="826666"/>
          </a:xfrm>
        </p:spPr>
        <p:txBody>
          <a:bodyPr>
            <a:normAutofit/>
          </a:bodyPr>
          <a:lstStyle/>
          <a:p>
            <a:r>
              <a:rPr lang="en-IE" sz="2400" b="1" dirty="0"/>
              <a:t>To be considered when your project falls into one scenario or two of them</a:t>
            </a:r>
            <a:r>
              <a:rPr lang="en-US" sz="2400" b="1" dirty="0"/>
              <a:t> or all 3 of them</a:t>
            </a:r>
            <a:endParaRPr lang="ro-RO" sz="2400" b="1" dirty="0"/>
          </a:p>
        </p:txBody>
      </p:sp>
    </p:spTree>
    <p:extLst>
      <p:ext uri="{BB962C8B-B14F-4D97-AF65-F5344CB8AC3E}">
        <p14:creationId xmlns:p14="http://schemas.microsoft.com/office/powerpoint/2010/main" val="2711723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own Arrow 3"/>
          <p:cNvSpPr/>
          <p:nvPr/>
        </p:nvSpPr>
        <p:spPr>
          <a:xfrm>
            <a:off x="4164638" y="4502354"/>
            <a:ext cx="278055" cy="653226"/>
          </a:xfrm>
          <a:prstGeom prst="downArrow">
            <a:avLst/>
          </a:prstGeom>
          <a:solidFill>
            <a:schemeClr val="accent6">
              <a:lumMod val="40000"/>
              <a:lumOff val="6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p>
        </p:txBody>
      </p:sp>
      <p:sp>
        <p:nvSpPr>
          <p:cNvPr id="17" name="Title 1"/>
          <p:cNvSpPr>
            <a:spLocks noGrp="1"/>
          </p:cNvSpPr>
          <p:nvPr>
            <p:ph type="title"/>
          </p:nvPr>
        </p:nvSpPr>
        <p:spPr>
          <a:xfrm>
            <a:off x="313184" y="102879"/>
            <a:ext cx="8229600" cy="905483"/>
          </a:xfrm>
        </p:spPr>
        <p:txBody>
          <a:bodyPr/>
          <a:lstStyle/>
          <a:p>
            <a:r>
              <a:rPr lang="en-IE" dirty="0">
                <a:solidFill>
                  <a:srgbClr val="0070C0"/>
                </a:solidFill>
              </a:rPr>
              <a:t>Ethics Consideration</a:t>
            </a:r>
          </a:p>
        </p:txBody>
      </p:sp>
      <p:grpSp>
        <p:nvGrpSpPr>
          <p:cNvPr id="22" name="Group 21"/>
          <p:cNvGrpSpPr/>
          <p:nvPr/>
        </p:nvGrpSpPr>
        <p:grpSpPr>
          <a:xfrm>
            <a:off x="2195736" y="1052736"/>
            <a:ext cx="4032448" cy="3317964"/>
            <a:chOff x="6596381" y="2546351"/>
            <a:chExt cx="4205220" cy="3500834"/>
          </a:xfrm>
        </p:grpSpPr>
        <p:sp>
          <p:nvSpPr>
            <p:cNvPr id="23" name="TextBox 22"/>
            <p:cNvSpPr txBox="1"/>
            <p:nvPr/>
          </p:nvSpPr>
          <p:spPr>
            <a:xfrm>
              <a:off x="6596381" y="2546351"/>
              <a:ext cx="4205220" cy="45463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IE" sz="2200" b="1" i="1" dirty="0">
                  <a:solidFill>
                    <a:schemeClr val="accent5">
                      <a:lumMod val="20000"/>
                      <a:lumOff val="80000"/>
                    </a:schemeClr>
                  </a:solidFill>
                </a:rPr>
                <a:t>Scenario 2</a:t>
              </a:r>
            </a:p>
          </p:txBody>
        </p:sp>
        <p:sp>
          <p:nvSpPr>
            <p:cNvPr id="24" name="TextBox 23"/>
            <p:cNvSpPr txBox="1"/>
            <p:nvPr/>
          </p:nvSpPr>
          <p:spPr>
            <a:xfrm>
              <a:off x="6596381" y="3008016"/>
              <a:ext cx="4205220" cy="3039169"/>
            </a:xfrm>
            <a:prstGeom prst="rect">
              <a:avLst/>
            </a:prstGeom>
            <a:solidFill>
              <a:schemeClr val="accent6">
                <a:lumMod val="20000"/>
                <a:lumOff val="80000"/>
              </a:schemeClr>
            </a:solidFill>
            <a:ln w="28575" cmpd="dbl">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GB" sz="2000" b="1" dirty="0"/>
                <a:t>Secondary Dataset(s) is used in your study</a:t>
              </a:r>
            </a:p>
            <a:p>
              <a:pPr marL="214313" indent="-214313">
                <a:buFont typeface="Arial" panose="020B0604020202020204" pitchFamily="34" charset="0"/>
                <a:buChar char="•"/>
              </a:pPr>
              <a:r>
                <a:rPr lang="en-GB" sz="2000" dirty="0"/>
                <a:t>Data is/was collected by someone </a:t>
              </a:r>
            </a:p>
            <a:p>
              <a:pPr marL="214313" indent="-214313">
                <a:buFont typeface="Arial" panose="020B0604020202020204" pitchFamily="34" charset="0"/>
                <a:buChar char="•"/>
              </a:pPr>
              <a:r>
                <a:rPr lang="en-IE" sz="2000" dirty="0"/>
                <a:t>Data is taken from a web site(s)</a:t>
              </a:r>
            </a:p>
            <a:p>
              <a:pPr marL="214313" indent="-214313">
                <a:buFont typeface="Arial" panose="020B0604020202020204" pitchFamily="34" charset="0"/>
                <a:buChar char="•"/>
              </a:pPr>
              <a:r>
                <a:rPr lang="en-IE" sz="2000" dirty="0"/>
                <a:t>Data is provided by a company</a:t>
              </a:r>
            </a:p>
            <a:p>
              <a:pPr marL="214313" indent="-214313">
                <a:buFont typeface="Arial" panose="020B0604020202020204" pitchFamily="34" charset="0"/>
                <a:buChar char="•"/>
              </a:pPr>
              <a:endParaRPr lang="en-IE" sz="2000" dirty="0"/>
            </a:p>
            <a:p>
              <a:endParaRPr lang="en-IE" sz="2000" dirty="0"/>
            </a:p>
          </p:txBody>
        </p:sp>
      </p:grpSp>
      <p:sp>
        <p:nvSpPr>
          <p:cNvPr id="25" name="Rectangle 24"/>
          <p:cNvSpPr/>
          <p:nvPr/>
        </p:nvSpPr>
        <p:spPr>
          <a:xfrm>
            <a:off x="2046548" y="5337611"/>
            <a:ext cx="4762872" cy="400110"/>
          </a:xfrm>
          <a:prstGeom prst="rect">
            <a:avLst/>
          </a:prstGeom>
        </p:spPr>
        <p:txBody>
          <a:bodyPr wrap="square">
            <a:spAutoFit/>
          </a:bodyPr>
          <a:lstStyle/>
          <a:p>
            <a:r>
              <a:rPr lang="en-GB" sz="2000" b="1" dirty="0">
                <a:solidFill>
                  <a:schemeClr val="accent1">
                    <a:lumMod val="50000"/>
                  </a:schemeClr>
                </a:solidFill>
                <a:ea typeface="Calibri" panose="020F0502020204030204" pitchFamily="34" charset="0"/>
                <a:cs typeface="Arial" panose="020B0604020202020204" pitchFamily="34" charset="0"/>
              </a:rPr>
              <a:t>Declaration of Ethics Consideration Form</a:t>
            </a:r>
            <a:endParaRPr lang="en-IE" sz="2000" dirty="0">
              <a:solidFill>
                <a:schemeClr val="accent1">
                  <a:lumMod val="50000"/>
                </a:schemeClr>
              </a:solidFill>
            </a:endParaRPr>
          </a:p>
        </p:txBody>
      </p:sp>
    </p:spTree>
    <p:extLst>
      <p:ext uri="{BB962C8B-B14F-4D97-AF65-F5344CB8AC3E}">
        <p14:creationId xmlns:p14="http://schemas.microsoft.com/office/powerpoint/2010/main" val="920570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3107328" y="1486310"/>
            <a:ext cx="3153915" cy="1459668"/>
            <a:chOff x="6596381" y="2546351"/>
            <a:chExt cx="4205220" cy="1405512"/>
          </a:xfrm>
        </p:grpSpPr>
        <p:sp>
          <p:nvSpPr>
            <p:cNvPr id="8" name="TextBox 7"/>
            <p:cNvSpPr txBox="1"/>
            <p:nvPr/>
          </p:nvSpPr>
          <p:spPr>
            <a:xfrm>
              <a:off x="6596381" y="2546351"/>
              <a:ext cx="4205220" cy="4149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IE" sz="2200" b="1" i="1" dirty="0">
                  <a:solidFill>
                    <a:schemeClr val="accent5">
                      <a:lumMod val="20000"/>
                      <a:lumOff val="80000"/>
                    </a:schemeClr>
                  </a:solidFill>
                </a:rPr>
                <a:t>Scenario 2</a:t>
              </a:r>
            </a:p>
          </p:txBody>
        </p:sp>
        <p:sp>
          <p:nvSpPr>
            <p:cNvPr id="10" name="TextBox 9"/>
            <p:cNvSpPr txBox="1"/>
            <p:nvPr/>
          </p:nvSpPr>
          <p:spPr>
            <a:xfrm>
              <a:off x="6596381" y="3008016"/>
              <a:ext cx="4205220" cy="943847"/>
            </a:xfrm>
            <a:prstGeom prst="rect">
              <a:avLst/>
            </a:prstGeom>
            <a:solidFill>
              <a:schemeClr val="accent6">
                <a:lumMod val="20000"/>
                <a:lumOff val="80000"/>
              </a:schemeClr>
            </a:solidFill>
            <a:ln w="28575" cmpd="dbl">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2000" b="1" dirty="0"/>
                <a:t>Secondary Dataset(s) is used in your study</a:t>
              </a:r>
              <a:endParaRPr lang="en-IE" sz="2000" dirty="0"/>
            </a:p>
          </p:txBody>
        </p:sp>
      </p:grpSp>
      <p:sp>
        <p:nvSpPr>
          <p:cNvPr id="4" name="Down Arrow 3"/>
          <p:cNvSpPr/>
          <p:nvPr/>
        </p:nvSpPr>
        <p:spPr>
          <a:xfrm>
            <a:off x="6756926" y="4156592"/>
            <a:ext cx="278055" cy="653226"/>
          </a:xfrm>
          <a:prstGeom prst="downArrow">
            <a:avLst/>
          </a:prstGeom>
          <a:solidFill>
            <a:schemeClr val="accent6">
              <a:lumMod val="40000"/>
              <a:lumOff val="6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p>
        </p:txBody>
      </p:sp>
      <p:grpSp>
        <p:nvGrpSpPr>
          <p:cNvPr id="17" name="Group 16"/>
          <p:cNvGrpSpPr/>
          <p:nvPr/>
        </p:nvGrpSpPr>
        <p:grpSpPr>
          <a:xfrm>
            <a:off x="183163" y="3611239"/>
            <a:ext cx="4043552" cy="2616101"/>
            <a:chOff x="6596381" y="2546351"/>
            <a:chExt cx="4205221" cy="3488133"/>
          </a:xfrm>
        </p:grpSpPr>
        <p:sp>
          <p:nvSpPr>
            <p:cNvPr id="19" name="TextBox 18"/>
            <p:cNvSpPr txBox="1"/>
            <p:nvPr/>
          </p:nvSpPr>
          <p:spPr>
            <a:xfrm>
              <a:off x="6596381" y="2546351"/>
              <a:ext cx="4205220" cy="533480"/>
            </a:xfrm>
            <a:prstGeom prst="rect">
              <a:avLst/>
            </a:prstGeom>
            <a:solidFill>
              <a:srgbClr val="C4D61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IE" sz="2000" b="1" i="1" dirty="0">
                  <a:solidFill>
                    <a:schemeClr val="accent1">
                      <a:lumMod val="50000"/>
                    </a:schemeClr>
                  </a:solidFill>
                </a:rPr>
                <a:t>Scenario 2 A</a:t>
              </a:r>
            </a:p>
          </p:txBody>
        </p:sp>
        <p:sp>
          <p:nvSpPr>
            <p:cNvPr id="20" name="TextBox 19"/>
            <p:cNvSpPr txBox="1"/>
            <p:nvPr/>
          </p:nvSpPr>
          <p:spPr>
            <a:xfrm>
              <a:off x="6596382" y="3008016"/>
              <a:ext cx="4205220" cy="3026468"/>
            </a:xfrm>
            <a:prstGeom prst="rect">
              <a:avLst/>
            </a:prstGeom>
            <a:solidFill>
              <a:schemeClr val="accent4">
                <a:lumMod val="20000"/>
                <a:lumOff val="80000"/>
              </a:schemeClr>
            </a:solidFill>
            <a:ln w="28575" cmpd="dbl">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2000" b="1" dirty="0"/>
                <a:t>PUBLIC Secondary Dataset(s) is used</a:t>
              </a:r>
            </a:p>
            <a:p>
              <a:pPr marL="257175" indent="-257175">
                <a:buFont typeface="Arial" panose="020B0604020202020204" pitchFamily="34" charset="0"/>
                <a:buChar char="•"/>
              </a:pPr>
              <a:r>
                <a:rPr lang="en-GB" i="1" dirty="0"/>
                <a:t>A letter/email from the copyright holder is required to confirm potential use of data</a:t>
              </a:r>
            </a:p>
            <a:p>
              <a:pPr marL="257175" indent="-257175">
                <a:buFont typeface="Arial" panose="020B0604020202020204" pitchFamily="34" charset="0"/>
                <a:buChar char="•"/>
              </a:pPr>
              <a:endParaRPr lang="en-GB" i="1" dirty="0"/>
            </a:p>
            <a:p>
              <a:pPr marL="257175" indent="-257175">
                <a:buFont typeface="Arial" panose="020B0604020202020204" pitchFamily="34" charset="0"/>
                <a:buChar char="•"/>
              </a:pPr>
              <a:r>
                <a:rPr lang="en-GB" i="1" dirty="0"/>
                <a:t>OR,</a:t>
              </a:r>
              <a:r>
                <a:rPr lang="en-US" i="1" dirty="0"/>
                <a:t> Citation and link to the web site where permission is granted </a:t>
              </a:r>
              <a:r>
                <a:rPr lang="en-GB" i="1" dirty="0"/>
                <a:t>  </a:t>
              </a:r>
              <a:endParaRPr lang="en-IE" i="1" dirty="0"/>
            </a:p>
            <a:p>
              <a:endParaRPr lang="en-IE" sz="1350" dirty="0"/>
            </a:p>
          </p:txBody>
        </p:sp>
      </p:grpSp>
      <p:grpSp>
        <p:nvGrpSpPr>
          <p:cNvPr id="21" name="Group 20"/>
          <p:cNvGrpSpPr/>
          <p:nvPr/>
        </p:nvGrpSpPr>
        <p:grpSpPr>
          <a:xfrm>
            <a:off x="4709978" y="3638266"/>
            <a:ext cx="4151539" cy="2589073"/>
            <a:chOff x="6596381" y="2546351"/>
            <a:chExt cx="4205220" cy="3159837"/>
          </a:xfrm>
        </p:grpSpPr>
        <p:sp>
          <p:nvSpPr>
            <p:cNvPr id="22" name="TextBox 21"/>
            <p:cNvSpPr txBox="1"/>
            <p:nvPr/>
          </p:nvSpPr>
          <p:spPr>
            <a:xfrm>
              <a:off x="6596381" y="2546351"/>
              <a:ext cx="4205220" cy="533479"/>
            </a:xfrm>
            <a:prstGeom prst="rect">
              <a:avLst/>
            </a:prstGeom>
            <a:solidFill>
              <a:srgbClr val="0DE79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IE" sz="2000" b="1" i="1" dirty="0">
                  <a:solidFill>
                    <a:srgbClr val="7030A0"/>
                  </a:solidFill>
                </a:rPr>
                <a:t>Scenario 2 B</a:t>
              </a:r>
            </a:p>
          </p:txBody>
        </p:sp>
        <p:sp>
          <p:nvSpPr>
            <p:cNvPr id="23" name="TextBox 22"/>
            <p:cNvSpPr txBox="1"/>
            <p:nvPr/>
          </p:nvSpPr>
          <p:spPr>
            <a:xfrm>
              <a:off x="6596381" y="3008016"/>
              <a:ext cx="4205220" cy="2698172"/>
            </a:xfrm>
            <a:prstGeom prst="rect">
              <a:avLst/>
            </a:prstGeom>
            <a:solidFill>
              <a:srgbClr val="D2F8E1"/>
            </a:solidFill>
            <a:ln w="28575" cmpd="dbl">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pPr algn="ctr"/>
              <a:r>
                <a:rPr lang="en-GB" sz="2000" b="1" dirty="0"/>
                <a:t>PRIVATE Secondary Dataset(s) is used</a:t>
              </a:r>
            </a:p>
            <a:p>
              <a:pPr marL="257175" indent="-257175">
                <a:buFont typeface="Arial" panose="020B0604020202020204" pitchFamily="34" charset="0"/>
                <a:buChar char="•"/>
              </a:pPr>
              <a:r>
                <a:rPr lang="en-GB" i="1" dirty="0"/>
                <a:t>Permission to use the dataset MUST BE received from the owner</a:t>
              </a:r>
            </a:p>
            <a:p>
              <a:endParaRPr lang="en-GB" sz="2000" i="1" dirty="0"/>
            </a:p>
            <a:p>
              <a:pPr marL="257175" indent="-257175">
                <a:buFont typeface="Arial" panose="020B0604020202020204" pitchFamily="34" charset="0"/>
                <a:buChar char="•"/>
              </a:pPr>
              <a:r>
                <a:rPr lang="en-US" i="1" dirty="0"/>
                <a:t>An approval letter/email from the owner  must be attached to the form</a:t>
              </a:r>
              <a:endParaRPr lang="en-IE" i="1" dirty="0"/>
            </a:p>
            <a:p>
              <a:endParaRPr lang="en-IE" sz="1350" dirty="0"/>
            </a:p>
          </p:txBody>
        </p:sp>
      </p:grpSp>
      <p:sp>
        <p:nvSpPr>
          <p:cNvPr id="6" name="Down Arrow 5"/>
          <p:cNvSpPr/>
          <p:nvPr/>
        </p:nvSpPr>
        <p:spPr>
          <a:xfrm rot="2007415">
            <a:off x="2816667" y="3001579"/>
            <a:ext cx="260272" cy="539900"/>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solidFill>
                <a:srgbClr val="C00000"/>
              </a:solidFill>
            </a:endParaRPr>
          </a:p>
        </p:txBody>
      </p:sp>
      <p:sp>
        <p:nvSpPr>
          <p:cNvPr id="25" name="Down Arrow 24"/>
          <p:cNvSpPr/>
          <p:nvPr/>
        </p:nvSpPr>
        <p:spPr>
          <a:xfrm rot="20016273">
            <a:off x="6324660" y="2990756"/>
            <a:ext cx="270883" cy="439737"/>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solidFill>
                <a:srgbClr val="C00000"/>
              </a:solidFill>
            </a:endParaRPr>
          </a:p>
        </p:txBody>
      </p:sp>
      <p:sp>
        <p:nvSpPr>
          <p:cNvPr id="16" name="Title 1"/>
          <p:cNvSpPr txBox="1">
            <a:spLocks/>
          </p:cNvSpPr>
          <p:nvPr/>
        </p:nvSpPr>
        <p:spPr>
          <a:xfrm>
            <a:off x="395536" y="529874"/>
            <a:ext cx="8229600" cy="90548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E" dirty="0">
                <a:solidFill>
                  <a:srgbClr val="0070C0"/>
                </a:solidFill>
              </a:rPr>
              <a:t>Ethics Consideration</a:t>
            </a:r>
          </a:p>
        </p:txBody>
      </p:sp>
    </p:spTree>
    <p:extLst>
      <p:ext uri="{BB962C8B-B14F-4D97-AF65-F5344CB8AC3E}">
        <p14:creationId xmlns:p14="http://schemas.microsoft.com/office/powerpoint/2010/main" val="743586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05483"/>
          </a:xfrm>
        </p:spPr>
        <p:txBody>
          <a:bodyPr/>
          <a:lstStyle/>
          <a:p>
            <a:r>
              <a:rPr lang="en-IE" dirty="0">
                <a:solidFill>
                  <a:srgbClr val="0070C0"/>
                </a:solidFill>
              </a:rPr>
              <a:t>Ethics Consideration</a:t>
            </a:r>
          </a:p>
        </p:txBody>
      </p:sp>
      <p:grpSp>
        <p:nvGrpSpPr>
          <p:cNvPr id="12" name="Group 11"/>
          <p:cNvGrpSpPr/>
          <p:nvPr/>
        </p:nvGrpSpPr>
        <p:grpSpPr>
          <a:xfrm>
            <a:off x="374714" y="1180121"/>
            <a:ext cx="3970784" cy="2953279"/>
            <a:chOff x="1028701" y="2723889"/>
            <a:chExt cx="4205220" cy="3948277"/>
          </a:xfrm>
        </p:grpSpPr>
        <p:sp>
          <p:nvSpPr>
            <p:cNvPr id="5" name="TextBox 4"/>
            <p:cNvSpPr txBox="1"/>
            <p:nvPr/>
          </p:nvSpPr>
          <p:spPr>
            <a:xfrm>
              <a:off x="1028701" y="2723889"/>
              <a:ext cx="4205220" cy="576058"/>
            </a:xfrm>
            <a:prstGeom prst="rect">
              <a:avLst/>
            </a:prstGeom>
            <a:gradFill>
              <a:gsLst>
                <a:gs pos="48641">
                  <a:srgbClr val="FFFF00"/>
                </a:gs>
                <a:gs pos="100000">
                  <a:srgbClr val="FFFF00"/>
                </a:gs>
                <a:gs pos="69710">
                  <a:srgbClr val="FFD3D2"/>
                </a:gs>
                <a:gs pos="0">
                  <a:srgbClr val="FFFF00"/>
                </a:gs>
                <a:gs pos="35000">
                  <a:schemeClr val="accent2">
                    <a:tint val="37000"/>
                    <a:satMod val="300000"/>
                  </a:schemeClr>
                </a:gs>
                <a:gs pos="100000">
                  <a:schemeClr val="accent2">
                    <a:tint val="15000"/>
                    <a:satMod val="350000"/>
                  </a:schemeClr>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IE" sz="2200" b="1" i="1" dirty="0">
                  <a:solidFill>
                    <a:srgbClr val="0070C0"/>
                  </a:solidFill>
                </a:rPr>
                <a:t>Scenario 3</a:t>
              </a:r>
            </a:p>
          </p:txBody>
        </p:sp>
        <p:sp>
          <p:nvSpPr>
            <p:cNvPr id="7" name="TextBox 6"/>
            <p:cNvSpPr txBox="1"/>
            <p:nvPr/>
          </p:nvSpPr>
          <p:spPr>
            <a:xfrm>
              <a:off x="1028701" y="3222169"/>
              <a:ext cx="4205220" cy="3449997"/>
            </a:xfrm>
            <a:prstGeom prst="rect">
              <a:avLst/>
            </a:prstGeom>
            <a:solidFill>
              <a:schemeClr val="accent2">
                <a:lumMod val="20000"/>
                <a:lumOff val="80000"/>
              </a:schemeClr>
            </a:solidFill>
            <a:ln w="28575" cmpd="dbl">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GB" sz="2000" b="1" dirty="0"/>
                <a:t>Target System(s) are involved in your study</a:t>
              </a:r>
            </a:p>
            <a:p>
              <a:pPr marL="214313" indent="-214313">
                <a:buFont typeface="Arial" panose="020B0604020202020204" pitchFamily="34" charset="0"/>
                <a:buChar char="•"/>
              </a:pPr>
              <a:r>
                <a:rPr lang="en-IE" sz="2000" dirty="0"/>
                <a:t>Target systems planed to be used during testing</a:t>
              </a:r>
            </a:p>
            <a:p>
              <a:pPr marL="214313" indent="-214313">
                <a:buFont typeface="Arial" panose="020B0604020202020204" pitchFamily="34" charset="0"/>
                <a:buChar char="•"/>
              </a:pPr>
              <a:r>
                <a:rPr lang="en-IE" sz="2000" dirty="0"/>
                <a:t>Real public systems are intended to be used</a:t>
              </a:r>
            </a:p>
            <a:p>
              <a:pPr marL="214313" indent="-214313">
                <a:buFont typeface="Arial" panose="020B0604020202020204" pitchFamily="34" charset="0"/>
                <a:buChar char="•"/>
              </a:pPr>
              <a:r>
                <a:rPr lang="en-IE" sz="2000" dirty="0"/>
                <a:t>Target system was not created by the student</a:t>
              </a:r>
            </a:p>
            <a:p>
              <a:endParaRPr lang="en-IE" sz="2000" dirty="0"/>
            </a:p>
          </p:txBody>
        </p:sp>
      </p:grpSp>
      <p:sp>
        <p:nvSpPr>
          <p:cNvPr id="11" name="Rectangle 10"/>
          <p:cNvSpPr/>
          <p:nvPr/>
        </p:nvSpPr>
        <p:spPr>
          <a:xfrm>
            <a:off x="4457678" y="1271078"/>
            <a:ext cx="4346875" cy="2862322"/>
          </a:xfrm>
          <a:prstGeom prst="rect">
            <a:avLst/>
          </a:prstGeom>
        </p:spPr>
        <p:txBody>
          <a:bodyPr wrap="square">
            <a:spAutoFit/>
          </a:bodyPr>
          <a:lstStyle/>
          <a:p>
            <a:pPr marL="214313" indent="-214313">
              <a:buFont typeface="Arial" panose="020B0604020202020204" pitchFamily="34" charset="0"/>
              <a:buChar char="•"/>
            </a:pPr>
            <a:r>
              <a:rPr lang="en-GB" b="1" dirty="0">
                <a:solidFill>
                  <a:srgbClr val="C00000"/>
                </a:solidFill>
                <a:latin typeface="Verdana" panose="020B0604030504040204" pitchFamily="34" charset="0"/>
                <a:ea typeface="Calibri" panose="020F0502020204030204" pitchFamily="34" charset="0"/>
                <a:cs typeface="Arial" panose="020B0604020202020204" pitchFamily="34" charset="0"/>
              </a:rPr>
              <a:t>Target System = </a:t>
            </a:r>
            <a:r>
              <a:rPr lang="en-GB" sz="1800" dirty="0">
                <a:effectLst/>
                <a:latin typeface="Verdana" panose="020B0604030504040204" pitchFamily="34" charset="0"/>
                <a:ea typeface="Times New Roman" panose="02020603050405020304" pitchFamily="18" charset="0"/>
              </a:rPr>
              <a:t>any asset, device, infrastructure component, hosting environment, network, or application, that is intended to be used by the current researcher as the target system for testing their ICT solution artefact. This can include a penetration testing target or any system under test.</a:t>
            </a:r>
            <a:endParaRPr lang="en-IE" sz="1800" dirty="0">
              <a:effectLst/>
              <a:latin typeface="Times New Roman" panose="02020603050405020304" pitchFamily="18" charset="0"/>
              <a:ea typeface="Times New Roman" panose="02020603050405020304" pitchFamily="18" charset="0"/>
            </a:endParaRPr>
          </a:p>
          <a:p>
            <a:pPr marL="214313" indent="-214313">
              <a:buFont typeface="Arial" panose="020B0604020202020204" pitchFamily="34" charset="0"/>
              <a:buChar char="•"/>
            </a:pPr>
            <a:endParaRPr lang="en-IE" dirty="0"/>
          </a:p>
        </p:txBody>
      </p:sp>
      <p:sp>
        <p:nvSpPr>
          <p:cNvPr id="15" name="Down Arrow 3">
            <a:extLst>
              <a:ext uri="{FF2B5EF4-FFF2-40B4-BE49-F238E27FC236}">
                <a16:creationId xmlns:a16="http://schemas.microsoft.com/office/drawing/2014/main" id="{99D61802-A333-B5C7-9BBE-8F1D51685B3A}"/>
              </a:ext>
            </a:extLst>
          </p:cNvPr>
          <p:cNvSpPr/>
          <p:nvPr/>
        </p:nvSpPr>
        <p:spPr>
          <a:xfrm>
            <a:off x="2120671" y="4016434"/>
            <a:ext cx="278055" cy="653226"/>
          </a:xfrm>
          <a:prstGeom prst="downArrow">
            <a:avLst/>
          </a:prstGeom>
          <a:solidFill>
            <a:schemeClr val="accent6">
              <a:lumMod val="40000"/>
              <a:lumOff val="6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p>
        </p:txBody>
      </p:sp>
      <p:sp>
        <p:nvSpPr>
          <p:cNvPr id="16" name="Rectangle 15">
            <a:extLst>
              <a:ext uri="{FF2B5EF4-FFF2-40B4-BE49-F238E27FC236}">
                <a16:creationId xmlns:a16="http://schemas.microsoft.com/office/drawing/2014/main" id="{1FBD35C6-DDA3-4002-DEFC-910EB809C193}"/>
              </a:ext>
            </a:extLst>
          </p:cNvPr>
          <p:cNvSpPr/>
          <p:nvPr/>
        </p:nvSpPr>
        <p:spPr>
          <a:xfrm>
            <a:off x="159963" y="4669660"/>
            <a:ext cx="4762872" cy="400110"/>
          </a:xfrm>
          <a:prstGeom prst="rect">
            <a:avLst/>
          </a:prstGeom>
        </p:spPr>
        <p:txBody>
          <a:bodyPr wrap="square">
            <a:spAutoFit/>
          </a:bodyPr>
          <a:lstStyle/>
          <a:p>
            <a:r>
              <a:rPr lang="en-GB" sz="2000" b="1" dirty="0">
                <a:solidFill>
                  <a:schemeClr val="accent1">
                    <a:lumMod val="50000"/>
                  </a:schemeClr>
                </a:solidFill>
                <a:ea typeface="Calibri" panose="020F0502020204030204" pitchFamily="34" charset="0"/>
                <a:cs typeface="Arial" panose="020B0604020202020204" pitchFamily="34" charset="0"/>
              </a:rPr>
              <a:t>Declaration of Ethics Consideration Form</a:t>
            </a:r>
            <a:endParaRPr lang="en-IE" sz="2000" dirty="0">
              <a:solidFill>
                <a:schemeClr val="accent1">
                  <a:lumMod val="50000"/>
                </a:schemeClr>
              </a:solidFill>
            </a:endParaRPr>
          </a:p>
        </p:txBody>
      </p:sp>
      <p:sp>
        <p:nvSpPr>
          <p:cNvPr id="17" name="Rectangle 16">
            <a:extLst>
              <a:ext uri="{FF2B5EF4-FFF2-40B4-BE49-F238E27FC236}">
                <a16:creationId xmlns:a16="http://schemas.microsoft.com/office/drawing/2014/main" id="{5FAA280C-E2BE-5016-8824-0193581709DD}"/>
              </a:ext>
            </a:extLst>
          </p:cNvPr>
          <p:cNvSpPr/>
          <p:nvPr/>
        </p:nvSpPr>
        <p:spPr>
          <a:xfrm>
            <a:off x="159963" y="5376627"/>
            <a:ext cx="8503811" cy="1631216"/>
          </a:xfrm>
          <a:prstGeom prst="rect">
            <a:avLst/>
          </a:prstGeom>
        </p:spPr>
        <p:txBody>
          <a:bodyPr wrap="square">
            <a:spAutoFit/>
          </a:bodyPr>
          <a:lstStyle/>
          <a:p>
            <a:r>
              <a:rPr lang="en-US" sz="2000" b="1" dirty="0">
                <a:solidFill>
                  <a:srgbClr val="FF0000"/>
                </a:solidFill>
                <a:ea typeface="Calibri" panose="020F0502020204030204" pitchFamily="34" charset="0"/>
                <a:cs typeface="Arial" panose="020B0604020202020204" pitchFamily="34" charset="0"/>
              </a:rPr>
              <a:t>Letter/email </a:t>
            </a:r>
            <a:r>
              <a:rPr lang="en-US" sz="2000" b="1" dirty="0">
                <a:solidFill>
                  <a:schemeClr val="accent1">
                    <a:lumMod val="50000"/>
                  </a:schemeClr>
                </a:solidFill>
                <a:ea typeface="Calibri" panose="020F0502020204030204" pitchFamily="34" charset="0"/>
                <a:cs typeface="Arial" panose="020B0604020202020204" pitchFamily="34" charset="0"/>
              </a:rPr>
              <a:t>evidence that </a:t>
            </a:r>
            <a:r>
              <a:rPr lang="en-US" sz="2000" b="1" dirty="0">
                <a:solidFill>
                  <a:srgbClr val="FF0000"/>
                </a:solidFill>
                <a:ea typeface="Calibri" panose="020F0502020204030204" pitchFamily="34" charset="0"/>
                <a:cs typeface="Arial" panose="020B0604020202020204" pitchFamily="34" charset="0"/>
              </a:rPr>
              <a:t>permission/authorization </a:t>
            </a:r>
            <a:r>
              <a:rPr lang="en-US" sz="2000" b="1" dirty="0">
                <a:solidFill>
                  <a:schemeClr val="accent1">
                    <a:lumMod val="50000"/>
                  </a:schemeClr>
                </a:solidFill>
                <a:ea typeface="Calibri" panose="020F0502020204030204" pitchFamily="34" charset="0"/>
                <a:cs typeface="Arial" panose="020B0604020202020204" pitchFamily="34" charset="0"/>
              </a:rPr>
              <a:t>has been granted to the student for using the system. </a:t>
            </a:r>
          </a:p>
          <a:p>
            <a:r>
              <a:rPr lang="en-US" sz="2000" b="1" dirty="0">
                <a:solidFill>
                  <a:srgbClr val="FF0000"/>
                </a:solidFill>
                <a:ea typeface="Calibri" panose="020F0502020204030204" pitchFamily="34" charset="0"/>
                <a:cs typeface="Arial" panose="020B0604020202020204" pitchFamily="34" charset="0"/>
              </a:rPr>
              <a:t>Rules of engagement  </a:t>
            </a:r>
            <a:r>
              <a:rPr lang="en-US" sz="2000" b="1" dirty="0">
                <a:solidFill>
                  <a:schemeClr val="accent1">
                    <a:lumMod val="50000"/>
                  </a:schemeClr>
                </a:solidFill>
                <a:ea typeface="Calibri" panose="020F0502020204030204" pitchFamily="34" charset="0"/>
                <a:cs typeface="Arial" panose="020B0604020202020204" pitchFamily="34" charset="0"/>
              </a:rPr>
              <a:t>evidence for penetration testing, vulnerability scans, or other ethical hacking engagement,.</a:t>
            </a:r>
          </a:p>
          <a:p>
            <a:endParaRPr lang="en-IE" sz="2000" dirty="0">
              <a:solidFill>
                <a:schemeClr val="accent1">
                  <a:lumMod val="50000"/>
                </a:schemeClr>
              </a:solidFill>
            </a:endParaRPr>
          </a:p>
        </p:txBody>
      </p:sp>
      <p:sp>
        <p:nvSpPr>
          <p:cNvPr id="18" name="Plus 17">
            <a:extLst>
              <a:ext uri="{FF2B5EF4-FFF2-40B4-BE49-F238E27FC236}">
                <a16:creationId xmlns:a16="http://schemas.microsoft.com/office/drawing/2014/main" id="{B0FD42B4-13F0-5D45-9ADB-DF2BC3EF50AA}"/>
              </a:ext>
            </a:extLst>
          </p:cNvPr>
          <p:cNvSpPr/>
          <p:nvPr/>
        </p:nvSpPr>
        <p:spPr>
          <a:xfrm>
            <a:off x="2120671" y="5038003"/>
            <a:ext cx="357650" cy="371145"/>
          </a:xfrm>
          <a:prstGeom prst="mathPlus">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a:p>
        </p:txBody>
      </p:sp>
    </p:spTree>
    <p:extLst>
      <p:ext uri="{BB962C8B-B14F-4D97-AF65-F5344CB8AC3E}">
        <p14:creationId xmlns:p14="http://schemas.microsoft.com/office/powerpoint/2010/main" val="1222861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a:solidFill>
                  <a:srgbClr val="FF0000"/>
                </a:solidFill>
              </a:rPr>
              <a:t>REMEMBER!</a:t>
            </a:r>
          </a:p>
        </p:txBody>
      </p:sp>
      <p:sp>
        <p:nvSpPr>
          <p:cNvPr id="5" name="Rectangle 4"/>
          <p:cNvSpPr/>
          <p:nvPr/>
        </p:nvSpPr>
        <p:spPr>
          <a:xfrm>
            <a:off x="847311" y="2584281"/>
            <a:ext cx="7449379" cy="2585323"/>
          </a:xfrm>
          <a:prstGeom prst="rect">
            <a:avLst/>
          </a:prstGeom>
          <a:solidFill>
            <a:schemeClr val="accent6">
              <a:lumMod val="20000"/>
              <a:lumOff val="80000"/>
            </a:schemeClr>
          </a:solidFill>
          <a:effectLst>
            <a:glow rad="228600">
              <a:schemeClr val="accent5">
                <a:satMod val="175000"/>
                <a:alpha val="40000"/>
              </a:schemeClr>
            </a:glow>
          </a:effectLst>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algn="ctr"/>
            <a:r>
              <a:rPr lang="en-GB" b="1" i="1" dirty="0">
                <a:solidFill>
                  <a:schemeClr val="tx1"/>
                </a:solidFill>
                <a:latin typeface="Verdana" panose="020B0604030504040204" pitchFamily="34" charset="0"/>
                <a:ea typeface="Calibri" panose="020F0502020204030204" pitchFamily="34" charset="0"/>
                <a:cs typeface="Arial" panose="020B0604020202020204" pitchFamily="34" charset="0"/>
              </a:rPr>
              <a:t>It is students’ responsibility to ensure that they have the correct permissions/authorizations to use any data/ target system in a study. </a:t>
            </a:r>
          </a:p>
          <a:p>
            <a:endParaRPr lang="en-GB" b="1" i="1" dirty="0">
              <a:solidFill>
                <a:schemeClr val="tx1"/>
              </a:solidFill>
              <a:latin typeface="Verdana" panose="020B0604030504040204" pitchFamily="34" charset="0"/>
              <a:ea typeface="Calibri" panose="020F0502020204030204" pitchFamily="34" charset="0"/>
              <a:cs typeface="Arial" panose="020B0604020202020204" pitchFamily="34" charset="0"/>
            </a:endParaRPr>
          </a:p>
          <a:p>
            <a:pPr algn="ctr"/>
            <a:r>
              <a:rPr lang="en-GB" b="1" i="1" dirty="0">
                <a:solidFill>
                  <a:schemeClr val="tx1"/>
                </a:solidFill>
                <a:latin typeface="Verdana" panose="020B0604030504040204" pitchFamily="34" charset="0"/>
                <a:ea typeface="Calibri" panose="020F0502020204030204" pitchFamily="34" charset="0"/>
                <a:cs typeface="Arial" panose="020B0604020202020204" pitchFamily="34" charset="0"/>
              </a:rPr>
              <a:t>Projects that make use of data or target systems that does not have authorization to be </a:t>
            </a:r>
            <a:r>
              <a:rPr lang="en-US" b="1" i="1" dirty="0">
                <a:solidFill>
                  <a:schemeClr val="tx1"/>
                </a:solidFill>
                <a:latin typeface="Verdana" panose="020B0604030504040204" pitchFamily="34" charset="0"/>
                <a:ea typeface="Calibri" panose="020F0502020204030204" pitchFamily="34" charset="0"/>
                <a:cs typeface="Arial" panose="020B0604020202020204" pitchFamily="34" charset="0"/>
              </a:rPr>
              <a:t>used, will not be graded for that portion of the study that makes use of such data.</a:t>
            </a:r>
          </a:p>
          <a:p>
            <a:pPr algn="ctr"/>
            <a:endParaRPr lang="en-IE" dirty="0">
              <a:solidFill>
                <a:schemeClr val="tx1"/>
              </a:solidFill>
            </a:endParaRPr>
          </a:p>
        </p:txBody>
      </p:sp>
    </p:spTree>
    <p:extLst>
      <p:ext uri="{BB962C8B-B14F-4D97-AF65-F5344CB8AC3E}">
        <p14:creationId xmlns:p14="http://schemas.microsoft.com/office/powerpoint/2010/main" val="3952949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solidFill>
                  <a:srgbClr val="0070C0"/>
                </a:solidFill>
              </a:rPr>
              <a:t>How to Submit my Form(s) ?</a:t>
            </a:r>
          </a:p>
        </p:txBody>
      </p:sp>
      <p:sp>
        <p:nvSpPr>
          <p:cNvPr id="3" name="Content Placeholder 2"/>
          <p:cNvSpPr>
            <a:spLocks noGrp="1"/>
          </p:cNvSpPr>
          <p:nvPr>
            <p:ph idx="1"/>
          </p:nvPr>
        </p:nvSpPr>
        <p:spPr>
          <a:xfrm>
            <a:off x="190086" y="1417638"/>
            <a:ext cx="8763828" cy="3955578"/>
          </a:xfrm>
        </p:spPr>
        <p:txBody>
          <a:bodyPr>
            <a:noAutofit/>
          </a:bodyPr>
          <a:lstStyle/>
          <a:p>
            <a:r>
              <a:rPr lang="en-IE" sz="2000" b="1" dirty="0"/>
              <a:t>The following information regarding Ethics is available on Project Moodle page</a:t>
            </a:r>
            <a:endParaRPr lang="ro-RO" sz="2000" b="1" dirty="0"/>
          </a:p>
          <a:p>
            <a:pPr lvl="1"/>
            <a:r>
              <a:rPr lang="en-US" sz="1800" dirty="0"/>
              <a:t>Declaration of Ethics Consideration Form</a:t>
            </a:r>
          </a:p>
          <a:p>
            <a:pPr lvl="1"/>
            <a:r>
              <a:rPr lang="en-IE" sz="1800" dirty="0"/>
              <a:t>Ethical Review Application Form</a:t>
            </a:r>
            <a:endParaRPr lang="ro-RO" sz="1800" dirty="0"/>
          </a:p>
          <a:p>
            <a:pPr lvl="1"/>
            <a:r>
              <a:rPr lang="en-IE" sz="1800" dirty="0"/>
              <a:t>An example of an Ethics Form submitted for a project</a:t>
            </a:r>
            <a:endParaRPr lang="ro-RO" sz="1800" dirty="0"/>
          </a:p>
          <a:p>
            <a:pPr lvl="1"/>
            <a:r>
              <a:rPr lang="en-IE" sz="1800" dirty="0"/>
              <a:t>Forms submission links</a:t>
            </a:r>
            <a:endParaRPr lang="ro-RO" sz="1800" dirty="0"/>
          </a:p>
          <a:p>
            <a:r>
              <a:rPr lang="en-IE" sz="1800" b="1" u="sng" dirty="0">
                <a:solidFill>
                  <a:srgbClr val="FF0000"/>
                </a:solidFill>
              </a:rPr>
              <a:t>Note</a:t>
            </a:r>
            <a:r>
              <a:rPr lang="en-IE" sz="1800" u="sng" dirty="0">
                <a:solidFill>
                  <a:srgbClr val="FF0000"/>
                </a:solidFill>
              </a:rPr>
              <a:t>:</a:t>
            </a:r>
            <a:r>
              <a:rPr lang="en-IE" sz="1800" dirty="0"/>
              <a:t> </a:t>
            </a:r>
            <a:r>
              <a:rPr lang="en-IE" sz="1800" i="1" dirty="0"/>
              <a:t>Provide all the required information into the Ethics Application Form  (e.g. consent form, survey questions, interview questions,, details on how the collected data will be analysed, etc.)</a:t>
            </a:r>
          </a:p>
          <a:p>
            <a:endParaRPr lang="en-IE" sz="2000" b="1" dirty="0"/>
          </a:p>
          <a:p>
            <a:r>
              <a:rPr lang="en-IE" sz="2000" b="1" dirty="0"/>
              <a:t>Submission link</a:t>
            </a:r>
            <a:r>
              <a:rPr lang="en-IE" sz="2000" dirty="0"/>
              <a:t>:  Available on MSc project Moodle page</a:t>
            </a:r>
            <a:endParaRPr lang="ro-RO" sz="2000" dirty="0"/>
          </a:p>
          <a:p>
            <a:pPr marL="0" indent="0">
              <a:buNone/>
            </a:pPr>
            <a:endParaRPr lang="en-IE" sz="1800" dirty="0"/>
          </a:p>
        </p:txBody>
      </p:sp>
      <p:sp>
        <p:nvSpPr>
          <p:cNvPr id="4" name="Rectangle 3"/>
          <p:cNvSpPr/>
          <p:nvPr/>
        </p:nvSpPr>
        <p:spPr>
          <a:xfrm>
            <a:off x="201599" y="5373216"/>
            <a:ext cx="8496714" cy="110799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IE" sz="2200" b="1" dirty="0"/>
              <a:t>If ethical approval was received in Research in Computing/  Practicum Part 1/ Research Practicum Part 1 and if there are no changes regarding ethical conditions, there is  </a:t>
            </a:r>
            <a:r>
              <a:rPr lang="en-IE" sz="2200" b="1" u="sng" dirty="0"/>
              <a:t>no need </a:t>
            </a:r>
            <a:r>
              <a:rPr lang="en-IE" sz="2200" b="1" dirty="0"/>
              <a:t>for resubmission of the form.</a:t>
            </a:r>
          </a:p>
        </p:txBody>
      </p:sp>
    </p:spTree>
    <p:extLst>
      <p:ext uri="{BB962C8B-B14F-4D97-AF65-F5344CB8AC3E}">
        <p14:creationId xmlns:p14="http://schemas.microsoft.com/office/powerpoint/2010/main" val="1730717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TotalTime>
  <Words>1771</Words>
  <Application>Microsoft Office PowerPoint</Application>
  <PresentationFormat>On-screen Show (4:3)</PresentationFormat>
  <Paragraphs>163</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Verdana</vt:lpstr>
      <vt:lpstr>Office Theme</vt:lpstr>
      <vt:lpstr>MSc Data Analytics (Jan  23/Sept 23/Jan 24 intake)- Research Project  MSc Cloud Computing – Research Project  MSc Fintech, MSc Cybersecurity,  MSc AI, MSc AI for Business – Practicum Part 2/ Internship Part 2  MSc Data Analytics (Sept 24 intake and onwards)  –        Research Practicum Part 2/ Internship Part 2</vt:lpstr>
      <vt:lpstr>Module Overview</vt:lpstr>
      <vt:lpstr>Module Overview</vt:lpstr>
      <vt:lpstr>Module Overview</vt:lpstr>
      <vt:lpstr>Research Project -  Module Learning Outcomes</vt:lpstr>
      <vt:lpstr>Practicum/Internship Part 1 &amp; 2- Module Learning Outcomes</vt:lpstr>
      <vt:lpstr>Research Practicum/Internship Part 1 &amp; 2- Module Learning Outcomes</vt:lpstr>
      <vt:lpstr>Objectives</vt:lpstr>
      <vt:lpstr> Research Project/ Internship/ Practicum - Requirements</vt:lpstr>
      <vt:lpstr>Marking Scheme – Research Project  MSc Data Analytics (Jan 23/Sept 23/Jan 24 intake) doing Research Project</vt:lpstr>
      <vt:lpstr>Marking Scheme – Practicum/ Internship MSc AI, MSc AI for Business, MSc Fintech, MSc Cybersecurity </vt:lpstr>
      <vt:lpstr>Marking Scheme – Research Practicum/ Internship MSc Data Analytics (Sept 24 intake and onwards) MSc Open Data Practice</vt:lpstr>
      <vt:lpstr>Marking Scheme – Research Project  MSc Cloud Computing ONLY</vt:lpstr>
      <vt:lpstr>Marking Scheme – Research Project  MSc Cloud Computing ONLY</vt:lpstr>
      <vt:lpstr>Ethics Consideration</vt:lpstr>
      <vt:lpstr>Ethics Consideration</vt:lpstr>
      <vt:lpstr>PowerPoint Presentation</vt:lpstr>
      <vt:lpstr>Ethics Consideration</vt:lpstr>
      <vt:lpstr>REMEMBER!</vt:lpstr>
      <vt:lpstr>How to Submit my Form(s) ?</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Orla Lahart</dc:creator>
  <cp:lastModifiedBy>Cristina Hava Muntean</cp:lastModifiedBy>
  <cp:revision>68</cp:revision>
  <cp:lastPrinted>2011-01-17T13:05:52Z</cp:lastPrinted>
  <dcterms:created xsi:type="dcterms:W3CDTF">2011-01-17T12:51:36Z</dcterms:created>
  <dcterms:modified xsi:type="dcterms:W3CDTF">2024-09-16T23:42:14Z</dcterms:modified>
</cp:coreProperties>
</file>