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6" r:id="rId3"/>
    <p:sldId id="287" r:id="rId4"/>
    <p:sldId id="289" r:id="rId5"/>
    <p:sldId id="279" r:id="rId6"/>
    <p:sldId id="288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1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14765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92652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6917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4569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46573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95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90387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14234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9375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3204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134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B55CC-BC7B-42F9-895C-77ECBE377AAB}" type="datetimeFigureOut">
              <a:rPr lang="en-IE" smtClean="0"/>
              <a:t>25/09/2023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30BC68-17BA-4550-A90B-D05F7556F35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1737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0070C0"/>
                </a:solidFill>
              </a:rPr>
              <a:t>Discussion and Conclusion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AF9C4-592D-55FE-F552-BD91B65F898F}"/>
              </a:ext>
            </a:extLst>
          </p:cNvPr>
          <p:cNvSpPr txBox="1">
            <a:spLocks/>
          </p:cNvSpPr>
          <p:nvPr/>
        </p:nvSpPr>
        <p:spPr>
          <a:xfrm>
            <a:off x="0" y="2276872"/>
            <a:ext cx="8964488" cy="11099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GB" b="1" dirty="0">
                <a:solidFill>
                  <a:srgbClr val="0070C0"/>
                </a:solidFill>
              </a:rPr>
            </a:br>
            <a:r>
              <a:rPr lang="en-GB" b="1" dirty="0">
                <a:solidFill>
                  <a:srgbClr val="0070C0"/>
                </a:solidFill>
              </a:rPr>
              <a:t> MSc Research Project/Internship/</a:t>
            </a:r>
            <a:r>
              <a:rPr lang="en-GB" sz="4400" b="1" dirty="0">
                <a:solidFill>
                  <a:srgbClr val="0070C0"/>
                </a:solidFill>
              </a:rPr>
              <a:t> Practicum</a:t>
            </a:r>
            <a:endParaRPr lang="en-IE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775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Self-Criticism at the Heart of Writing a Discussion Section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100" b="1" dirty="0"/>
              <a:t>For this purpose, you should </a:t>
            </a:r>
            <a:r>
              <a:rPr lang="en-US" sz="3100" b="1" dirty="0">
                <a:solidFill>
                  <a:srgbClr val="C00000"/>
                </a:solidFill>
              </a:rPr>
              <a:t>criticize the experiment</a:t>
            </a:r>
            <a:r>
              <a:rPr lang="en-US" sz="3100" b="1" dirty="0"/>
              <a:t>, and be honest about whether your design was good enough</a:t>
            </a:r>
          </a:p>
          <a:p>
            <a:r>
              <a:rPr lang="en-US" sz="3100" b="1" dirty="0"/>
              <a:t>Suggest any modifications and improvements that could be made to the design.</a:t>
            </a:r>
          </a:p>
          <a:p>
            <a:endParaRPr lang="en-US" sz="3100" b="1" dirty="0"/>
          </a:p>
          <a:p>
            <a:r>
              <a:rPr lang="en-US" sz="3100" b="1" dirty="0"/>
              <a:t>Maybe the reason that you did not find a significant correlation is because your sampling was not random, or you did not use sensitive enough equipment, or the data set was not big enough</a:t>
            </a:r>
          </a:p>
          <a:p>
            <a:endParaRPr lang="en-US" sz="3100" b="1" dirty="0"/>
          </a:p>
          <a:p>
            <a:r>
              <a:rPr lang="en-US" sz="3100" b="1" dirty="0"/>
              <a:t>The discussion section is not always about what you found, but what you did not find, and how you deal with that. </a:t>
            </a:r>
          </a:p>
          <a:p>
            <a:r>
              <a:rPr lang="en-US" sz="3100" b="1" dirty="0"/>
              <a:t>Stating that the results are inconclusive is the easy way out, and you must always try to pick out something of value.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50209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Using the Discussion Section to Expand Knowledge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0808"/>
            <a:ext cx="8229600" cy="4781128"/>
          </a:xfrm>
        </p:spPr>
        <p:txBody>
          <a:bodyPr>
            <a:normAutofit/>
          </a:bodyPr>
          <a:lstStyle/>
          <a:p>
            <a:r>
              <a:rPr lang="en-US" sz="2400" b="1" dirty="0"/>
              <a:t>You should always </a:t>
            </a:r>
            <a:r>
              <a:rPr lang="en-US" sz="2400" b="1" dirty="0">
                <a:solidFill>
                  <a:srgbClr val="FF0000"/>
                </a:solidFill>
              </a:rPr>
              <a:t>put your findings into the context of the previous research</a:t>
            </a:r>
            <a:r>
              <a:rPr lang="en-US" sz="2400" b="1" dirty="0"/>
              <a:t> that you found during your literature review.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Do your results agree or disagree with previous research?</a:t>
            </a:r>
          </a:p>
          <a:p>
            <a:endParaRPr lang="en-US" sz="2400" b="1" dirty="0"/>
          </a:p>
          <a:p>
            <a:r>
              <a:rPr lang="en-US" sz="2400" b="1" dirty="0"/>
              <a:t>Do the results of the previous research help you to interpret your own findings?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If your results are very different, why?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200" dirty="0"/>
              <a:t>Either you have uncovered something new, or you may have made a major flaw with the design of the experiment.</a:t>
            </a:r>
          </a:p>
        </p:txBody>
      </p:sp>
    </p:spTree>
    <p:extLst>
      <p:ext uri="{BB962C8B-B14F-4D97-AF65-F5344CB8AC3E}">
        <p14:creationId xmlns:p14="http://schemas.microsoft.com/office/powerpoint/2010/main" val="3585910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70C0"/>
                </a:solidFill>
              </a:rPr>
              <a:t>Using the Discussion Section to Expand Knowledge</a:t>
            </a:r>
            <a:endParaRPr lang="en-IE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579296" cy="4925144"/>
          </a:xfrm>
        </p:spPr>
        <p:txBody>
          <a:bodyPr>
            <a:normAutofit/>
          </a:bodyPr>
          <a:lstStyle/>
          <a:p>
            <a:r>
              <a:rPr lang="en-US" sz="2600" b="1" dirty="0"/>
              <a:t>Finally, after saying all of this, you can </a:t>
            </a:r>
            <a:r>
              <a:rPr lang="en-US" sz="2600" b="1" u="sng" dirty="0"/>
              <a:t>make a statement about whether the experiment has contributed to knowledge in the field, or not</a:t>
            </a:r>
            <a:r>
              <a:rPr lang="en-US" sz="2600" b="1" dirty="0"/>
              <a:t>.</a:t>
            </a:r>
          </a:p>
          <a:p>
            <a:endParaRPr lang="en-US" sz="2600" b="1" dirty="0"/>
          </a:p>
          <a:p>
            <a:r>
              <a:rPr lang="en-US" sz="2600" b="1" dirty="0"/>
              <a:t>Unless you made so many errors that the results are completely unreliable, you will; certainly have learned something. </a:t>
            </a:r>
          </a:p>
          <a:p>
            <a:r>
              <a:rPr lang="en-US" sz="2600" b="1" dirty="0"/>
              <a:t>Try not to be too broad in your generalizations to the wider world - it is a small experiment and is unlikely to change the world.</a:t>
            </a:r>
          </a:p>
          <a:p>
            <a:endParaRPr lang="en-US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9688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Discussion</a:t>
            </a:r>
            <a:r>
              <a:rPr lang="en-IE" dirty="0"/>
              <a:t> 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69806"/>
            <a:ext cx="1287587" cy="1287587"/>
          </a:xfrm>
        </p:spPr>
      </p:pic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Focus the discussion on these points: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sz="2400" b="1" dirty="0"/>
              <a:t>Discuss your confidence in the results (their validity and comparison with benchmarks)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sz="2400" b="1" dirty="0"/>
              <a:t>The scope of the work you performed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sz="2400" b="1" dirty="0"/>
              <a:t>How generalizable your work is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E" sz="2400" b="1" dirty="0"/>
              <a:t>The strengths and limitations of your approach</a:t>
            </a:r>
          </a:p>
          <a:p>
            <a:pPr marL="457200" lvl="1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9462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3989040"/>
          </a:xfrm>
        </p:spPr>
        <p:txBody>
          <a:bodyPr>
            <a:normAutofit/>
          </a:bodyPr>
          <a:lstStyle/>
          <a:p>
            <a:pPr>
              <a:spcBef>
                <a:spcPts val="1800"/>
              </a:spcBef>
            </a:pPr>
            <a:r>
              <a:rPr lang="en-IE" sz="2400" b="1" dirty="0"/>
              <a:t>Restate your research question, your objectives and the work done</a:t>
            </a:r>
          </a:p>
          <a:p>
            <a:pPr>
              <a:spcBef>
                <a:spcPts val="1800"/>
              </a:spcBef>
            </a:pPr>
            <a:r>
              <a:rPr lang="en-IE" sz="2400" b="1" dirty="0"/>
              <a:t>State how successful you have been in answering the research question and achieving the objectives</a:t>
            </a:r>
          </a:p>
          <a:p>
            <a:pPr>
              <a:spcBef>
                <a:spcPts val="1800"/>
              </a:spcBef>
            </a:pPr>
            <a:r>
              <a:rPr lang="en-IE" sz="2400" b="1" dirty="0"/>
              <a:t>Restate the key findings</a:t>
            </a:r>
          </a:p>
          <a:p>
            <a:pPr>
              <a:spcBef>
                <a:spcPts val="1800"/>
              </a:spcBef>
            </a:pPr>
            <a:r>
              <a:rPr lang="en-IE" sz="2400" b="1" dirty="0"/>
              <a:t>Describe any proposals for future work  or potential for commercialisation</a:t>
            </a:r>
          </a:p>
        </p:txBody>
      </p:sp>
    </p:spTree>
    <p:extLst>
      <p:ext uri="{BB962C8B-B14F-4D97-AF65-F5344CB8AC3E}">
        <p14:creationId xmlns:p14="http://schemas.microsoft.com/office/powerpoint/2010/main" val="4055098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1533</TotalTime>
  <Words>388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Office Theme</vt:lpstr>
      <vt:lpstr>PowerPoint Presentation</vt:lpstr>
      <vt:lpstr>Self-Criticism at the Heart of Writing a Discussion Section</vt:lpstr>
      <vt:lpstr>Using the Discussion Section to Expand Knowledge</vt:lpstr>
      <vt:lpstr>Using the Discussion Section to Expand Knowledge</vt:lpstr>
      <vt:lpstr>Discussion </vt:lpstr>
      <vt:lpstr>Conclusion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</dc:title>
  <dc:creator>Orla Lahart</dc:creator>
  <cp:lastModifiedBy>Cristina Hava Muntean</cp:lastModifiedBy>
  <cp:revision>37</cp:revision>
  <cp:lastPrinted>2011-01-17T13:05:52Z</cp:lastPrinted>
  <dcterms:created xsi:type="dcterms:W3CDTF">2011-01-17T12:51:36Z</dcterms:created>
  <dcterms:modified xsi:type="dcterms:W3CDTF">2023-09-25T01:20:23Z</dcterms:modified>
</cp:coreProperties>
</file>