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72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65"/>
    <p:restoredTop sz="96058"/>
  </p:normalViewPr>
  <p:slideViewPr>
    <p:cSldViewPr snapToGrid="0" snapToObjects="1">
      <p:cViewPr varScale="1">
        <p:scale>
          <a:sx n="119" d="100"/>
          <a:sy n="119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77BB0-C113-7046-9712-AFFF206A27FD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8348C-E49B-6249-989D-8A5749554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43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31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27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23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38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76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33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9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32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40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83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94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56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1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8348C-E49B-6249-989D-8A57495546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55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4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SoulSense</a:t>
            </a:r>
            <a:endParaRPr lang="en-IN"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Shreeraj Santosh Sangle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x23283254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Lavish Thomas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College of Ireland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Date: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11th August 2025</a:t>
            </a:r>
          </a:p>
        </p:txBody>
      </p:sp>
      <p:pic>
        <p:nvPicPr>
          <p:cNvPr id="8" name="Video 7">
            <a:extLst>
              <a:ext uri="{FF2B5EF4-FFF2-40B4-BE49-F238E27FC236}">
                <a16:creationId xmlns:a16="http://schemas.microsoft.com/office/drawing/2014/main" id="{E170ADBD-FD64-4F6E-9A64-AE4B67E89E3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scale &amp; impact: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970M+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live with mental disorders; untreated anxiety/depression cost ≈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$1T/yr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lost productivity.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gap: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LMICs ~75%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need care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none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too few specialists,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waitlists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follow-up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health budgets for mental health.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Stigma: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Fear of labels and “cope quietly” norms suppress help-seeking and honest disclosure.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limits → late detection: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self-reports &amp; brief interviews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episodic, subjective, backward-looking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signs are missed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often enter care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crisis points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outcomes worsen, and services stay overloaded.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→ design target: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 that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(24/7, anonymous, low-bandwidth),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(near-zero marginal cost),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(clear “why” clinicians &amp; users can trust).</a:t>
            </a:r>
          </a:p>
          <a:p>
            <a:pPr algn="just">
              <a:lnSpc>
                <a:spcPct val="90000"/>
              </a:lnSpc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SoulSenseAI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specifically to meet this need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persona-driven, explainable, privacy-first support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Video 8">
            <a:extLst>
              <a:ext uri="{FF2B5EF4-FFF2-40B4-BE49-F238E27FC236}">
                <a16:creationId xmlns:a16="http://schemas.microsoft.com/office/drawing/2014/main" id="{5A043769-7A24-5CA7-77A0-340D539A7D6D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Gaps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942276" cy="3435531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stigma → low help-seeking: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Fear of labels/judgment and “cope quietly” norms keep people from opening up; private, low-friction channels boost disclosure.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tools fall short: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Questionnaires &amp; brief interviews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episodic, subjective, clinic-bound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—they miss day-to-day fluctuations and early signals, and they add load to already stretched clinicians.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AI helps now: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Anonymous, 24/7, non-judgmental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access; remembers context across sessions; scalable at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near-zero marginal cost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can prompt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affect-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self-awareness between appointments.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 in today’s chatbots: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 rationale, no audit trail), offer generic wellness tips, and handle risk inconsistently—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enough for high-stakes mental-health use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 →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SoulSense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Text-only, privacy-first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design;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shows the “why” behind responses;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flags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persona-specific support that clinicians and users can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Video 5">
            <a:extLst>
              <a:ext uri="{FF2B5EF4-FFF2-40B4-BE49-F238E27FC236}">
                <a16:creationId xmlns:a16="http://schemas.microsoft.com/office/drawing/2014/main" id="{6C143BFA-1935-B832-3565-B9149D0121F9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300"/>
              <a:t>Inspiration from Existing Tools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397513"/>
            <a:ext cx="7790472" cy="3637528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IN" sz="1900" b="1" dirty="0" err="1"/>
              <a:t>Replika</a:t>
            </a:r>
            <a:r>
              <a:rPr lang="en-IN" sz="1900" dirty="0"/>
              <a:t> excels at building emotional rapport and keeping users engaged, but its responses come from a </a:t>
            </a:r>
            <a:r>
              <a:rPr lang="en-IN" sz="1900" b="1" dirty="0"/>
              <a:t>black-box</a:t>
            </a:r>
            <a:r>
              <a:rPr lang="en-IN" sz="1900" dirty="0"/>
              <a:t> model—there’s no clear rationale for why it says what it says or how risk is handled.</a:t>
            </a:r>
          </a:p>
          <a:p>
            <a:pPr algn="just">
              <a:lnSpc>
                <a:spcPct val="90000"/>
              </a:lnSpc>
            </a:pPr>
            <a:r>
              <a:rPr lang="en-IN" sz="1900" b="1" dirty="0" err="1"/>
              <a:t>Youper</a:t>
            </a:r>
            <a:r>
              <a:rPr lang="en-IN" sz="1900" dirty="0"/>
              <a:t> brings </a:t>
            </a:r>
            <a:r>
              <a:rPr lang="en-IN" sz="1900" b="1" dirty="0"/>
              <a:t>clinical grounding</a:t>
            </a:r>
            <a:r>
              <a:rPr lang="en-IN" sz="1900" dirty="0"/>
              <a:t> through CBT-style prompts and mood tracking, yet its </a:t>
            </a:r>
            <a:r>
              <a:rPr lang="en-IN" sz="1900" b="1" dirty="0"/>
              <a:t>scripted flow</a:t>
            </a:r>
            <a:r>
              <a:rPr lang="en-IN" sz="1900" dirty="0"/>
              <a:t> can feel rigid and may miss nuanced, evolving conversations.</a:t>
            </a:r>
          </a:p>
          <a:p>
            <a:pPr algn="just">
              <a:lnSpc>
                <a:spcPct val="90000"/>
              </a:lnSpc>
            </a:pPr>
            <a:r>
              <a:rPr lang="en-IN" sz="1900" b="1" dirty="0" err="1"/>
              <a:t>SoulSense</a:t>
            </a:r>
            <a:r>
              <a:rPr lang="en-IN" sz="1900" dirty="0"/>
              <a:t> aims to fuse both strengths: keep </a:t>
            </a:r>
            <a:r>
              <a:rPr lang="en-IN" sz="1900" dirty="0" err="1"/>
              <a:t>Replika’s</a:t>
            </a:r>
            <a:r>
              <a:rPr lang="en-IN" sz="1900" dirty="0"/>
              <a:t> </a:t>
            </a:r>
            <a:r>
              <a:rPr lang="en-IN" sz="1900" b="1" dirty="0"/>
              <a:t>empathy</a:t>
            </a:r>
            <a:r>
              <a:rPr lang="en-IN" sz="1900" dirty="0"/>
              <a:t>, retain </a:t>
            </a:r>
            <a:r>
              <a:rPr lang="en-IN" sz="1900" dirty="0" err="1"/>
              <a:t>Youper’s</a:t>
            </a:r>
            <a:r>
              <a:rPr lang="en-IN" sz="1900" dirty="0"/>
              <a:t> </a:t>
            </a:r>
            <a:r>
              <a:rPr lang="en-IN" sz="1900" b="1" dirty="0"/>
              <a:t>evidence-based structure</a:t>
            </a:r>
            <a:r>
              <a:rPr lang="en-IN" sz="1900" dirty="0"/>
              <a:t>, and add </a:t>
            </a:r>
            <a:r>
              <a:rPr lang="en-IN" sz="1900" b="1" dirty="0"/>
              <a:t>transparent explainability</a:t>
            </a:r>
            <a:r>
              <a:rPr lang="en-IN" sz="1900" dirty="0"/>
              <a:t> that shows the cues and reasoning behind suggestions and crisis flags—so users and clinicians can </a:t>
            </a:r>
            <a:r>
              <a:rPr lang="en-IN" sz="1900" b="1" dirty="0"/>
              <a:t>trust and audit</a:t>
            </a:r>
            <a:r>
              <a:rPr lang="en-IN" sz="1900" dirty="0"/>
              <a:t> the system.</a:t>
            </a:r>
          </a:p>
          <a:p>
            <a:pPr algn="just">
              <a:lnSpc>
                <a:spcPct val="90000"/>
              </a:lnSpc>
            </a:pPr>
            <a:r>
              <a:rPr lang="en-IN" sz="1900" b="1" dirty="0"/>
              <a:t>How:</a:t>
            </a:r>
            <a:r>
              <a:rPr lang="en-IN" sz="1900" dirty="0"/>
              <a:t> Persona prompts (Dr. Sarah, Marcus, Maya, Alex) + </a:t>
            </a:r>
            <a:r>
              <a:rPr lang="en-IN" sz="1900" b="1" dirty="0"/>
              <a:t>explainability layer</a:t>
            </a:r>
            <a:r>
              <a:rPr lang="en-IN" sz="1900" dirty="0"/>
              <a:t> (clear “why”), </a:t>
            </a:r>
            <a:r>
              <a:rPr lang="en-IN" sz="1900" b="1" dirty="0"/>
              <a:t>privacy-first</a:t>
            </a:r>
            <a:r>
              <a:rPr lang="en-IN" sz="1900" dirty="0"/>
              <a:t> text design, auditable crisis logic.</a:t>
            </a:r>
          </a:p>
        </p:txBody>
      </p:sp>
      <p:pic>
        <p:nvPicPr>
          <p:cNvPr id="7" name="Video 6">
            <a:extLst>
              <a:ext uri="{FF2B5EF4-FFF2-40B4-BE49-F238E27FC236}">
                <a16:creationId xmlns:a16="http://schemas.microsoft.com/office/drawing/2014/main" id="{8CEA3149-CF2E-511C-F7A6-9DC4175C6485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Research Objectives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IN" sz="1900" b="1" dirty="0"/>
              <a:t>RQ1 –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 what extent does enhance Claude 3.5 Sonnet and a full stack framework used in 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SoulSense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AI application efficiently offer a stable and responsive platform focused on persona-led conversational mental health support?</a:t>
            </a:r>
            <a:endParaRPr lang="en-IN" sz="1100" dirty="0">
              <a:effectLst/>
            </a:endParaRPr>
          </a:p>
          <a:p>
            <a:pPr algn="just">
              <a:lnSpc>
                <a:spcPct val="90000"/>
              </a:lnSpc>
            </a:pPr>
            <a:r>
              <a:rPr lang="en-IN" sz="1900" b="1" dirty="0"/>
              <a:t>RQ2 –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How do unique AI personas (Dr. Sarah, Alex, Marcus, Maya) enable the engagement in more or less distinct ways, as well as perceived therapeutic alliance in 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SoulSense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AI platform? </a:t>
            </a:r>
          </a:p>
          <a:p>
            <a:pPr algn="just">
              <a:lnSpc>
                <a:spcPct val="90000"/>
              </a:lnSpc>
            </a:pPr>
            <a:r>
              <a:rPr lang="en-IN" sz="1900" b="1" dirty="0"/>
              <a:t>RQ3 –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How should the design and implementation of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SoulSense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AI address the issue of accessibility and stigma that traditional mental health support may impose?</a:t>
            </a:r>
            <a:r>
              <a:rPr lang="en-IN" sz="1100" dirty="0">
                <a:effectLst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IN" sz="1900" b="1" dirty="0"/>
              <a:t>Overall goal:</a:t>
            </a:r>
            <a:r>
              <a:rPr lang="en-IN" sz="1900" dirty="0"/>
              <a:t> An </a:t>
            </a:r>
            <a:r>
              <a:rPr lang="en-IN" sz="1900" b="1" dirty="0"/>
              <a:t>ethical, explainable, clinically-informed</a:t>
            </a:r>
            <a:r>
              <a:rPr lang="en-IN" sz="1900" dirty="0"/>
              <a:t> companion—</a:t>
            </a:r>
            <a:r>
              <a:rPr lang="en-IN" sz="1900" b="1" dirty="0"/>
              <a:t>empathy + CBT cues + transparent XAI</a:t>
            </a:r>
            <a:r>
              <a:rPr lang="en-IN" sz="1900" dirty="0"/>
              <a:t> that users and clinicians can trust.</a:t>
            </a:r>
          </a:p>
        </p:txBody>
      </p:sp>
      <p:pic>
        <p:nvPicPr>
          <p:cNvPr id="7" name="Video 6">
            <a:extLst>
              <a:ext uri="{FF2B5EF4-FFF2-40B4-BE49-F238E27FC236}">
                <a16:creationId xmlns:a16="http://schemas.microsoft.com/office/drawing/2014/main" id="{7282A4AB-D016-B254-4C0C-C4CA5DE97AB1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06" y="679731"/>
            <a:ext cx="3128996" cy="33681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1"/>
            <a:ext cx="1834788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948" y="269324"/>
            <a:ext cx="4587584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33b35bd1-8207-437b-962a-838a2e7547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458" y="557360"/>
            <a:ext cx="3886564" cy="5632704"/>
          </a:xfrm>
          <a:prstGeom prst="rect">
            <a:avLst/>
          </a:prstGeom>
        </p:spPr>
      </p:pic>
      <p:pic>
        <p:nvPicPr>
          <p:cNvPr id="9" name="Video 8">
            <a:extLst>
              <a:ext uri="{FF2B5EF4-FFF2-40B4-BE49-F238E27FC236}">
                <a16:creationId xmlns:a16="http://schemas.microsoft.com/office/drawing/2014/main" id="{9D8F0166-1CA5-3FC8-338A-EE6DEDEB9175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06" y="679731"/>
            <a:ext cx="3128996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1"/>
            <a:ext cx="1834788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948" y="269324"/>
            <a:ext cx="4587584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c872541-f0b8-42ab-8868-0a14cf4f9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26" y="557360"/>
            <a:ext cx="4069627" cy="5632704"/>
          </a:xfrm>
          <a:prstGeom prst="rect">
            <a:avLst/>
          </a:prstGeom>
        </p:spPr>
      </p:pic>
      <p:pic>
        <p:nvPicPr>
          <p:cNvPr id="13" name="Video 12">
            <a:extLst>
              <a:ext uri="{FF2B5EF4-FFF2-40B4-BE49-F238E27FC236}">
                <a16:creationId xmlns:a16="http://schemas.microsoft.com/office/drawing/2014/main" id="{78B34248-62F3-D226-72E0-F0CB3D03E47D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AI Persona Design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768170" cy="3435531"/>
          </a:xfrm>
        </p:spPr>
        <p:txBody>
          <a:bodyPr anchor="ctr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Sarah — Clinical Therapist (Empathetic, Reflective):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Reflective listening + gentle CBT-lite reframes and grounding; performs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checks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offers next-step options. Best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distress / crisis-adjacent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moments.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Marcus — Life Coach (Motivational, Directive):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 concerns into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goals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action steps, and accountability prompts; forward-looking and energising. Best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goal-seeking / behaviour change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Maya — Mindfulness Guide (Calm, Reflective): Breathwork, present-moment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cues; reduces rumination with short, repeatable practices. Best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anxiety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 — Peer Support Friend (Relatable, Supportive):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 validation, normalising language, practical tips; builds rapport and reduces loneliness. Best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support / check-ins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memory per persona → continuity: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persona stores its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 session history &amp; tone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preventing cross-contamination and keeping replies consistent with role.</a:t>
            </a:r>
          </a:p>
          <a:p>
            <a:pPr algn="just">
              <a:lnSpc>
                <a:spcPct val="9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hood: Persona-specific prompt templates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layer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(shows key cues/rationale);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flags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escalate regardless of persona.</a:t>
            </a:r>
          </a:p>
        </p:txBody>
      </p:sp>
      <p:pic>
        <p:nvPicPr>
          <p:cNvPr id="15" name="Video 14">
            <a:extLst>
              <a:ext uri="{FF2B5EF4-FFF2-40B4-BE49-F238E27FC236}">
                <a16:creationId xmlns:a16="http://schemas.microsoft.com/office/drawing/2014/main" id="{AE44CFD0-239A-5902-2ADA-C474C7D731E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Evaluation Methodology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89016" cy="3435531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load/latency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tone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adherence,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flows,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&amp; privacy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1/5/10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concurrent users for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key endpoints; metrics =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/p95 latency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throughput, error rate, uptime; DB profiling (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~50 ops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checks: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responses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50/persona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scored for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 match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 clarity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 sessions: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simulated sessions/persona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(7–8 turns) across distress, goals, mindfulness, support; verify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per-persona memory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path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rationale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&amp; privacy: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Text-only, low-bandwidth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secrets in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.env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GDPR-aligned retention,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escalation logs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Video 12">
            <a:extLst>
              <a:ext uri="{FF2B5EF4-FFF2-40B4-BE49-F238E27FC236}">
                <a16:creationId xmlns:a16="http://schemas.microsoft.com/office/drawing/2014/main" id="{540C40A3-2500-8C99-3A4A-7B66C6D9B56F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Key Results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850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/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/chat/message (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~43% faster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1.5s norm); static endpoints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&lt;50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91%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uptime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72h; p95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&lt;1.8s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error rate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~0.2%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consistency: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&gt;90%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tone adherence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Dr. Sarah, Marcus, Maya, Alex (stable role-consistent replies across contexts).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reduction (scores):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9/10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8.5/10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9.2/10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supports access, affordability, and trust.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detection: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91.2%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94.7%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escalation response → high sensitivity with low false alarms.</a:t>
            </a:r>
          </a:p>
          <a:p>
            <a:pPr algn="just">
              <a:lnSpc>
                <a:spcPct val="9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is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stable, and trustworthy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personas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signals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aligned to the project goals.</a:t>
            </a:r>
          </a:p>
        </p:txBody>
      </p:sp>
      <p:pic>
        <p:nvPicPr>
          <p:cNvPr id="7" name="Video 6">
            <a:extLst>
              <a:ext uri="{FF2B5EF4-FFF2-40B4-BE49-F238E27FC236}">
                <a16:creationId xmlns:a16="http://schemas.microsoft.com/office/drawing/2014/main" id="{B80EC4E4-16A1-C026-BEEA-45399DBE07D1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EDCC5D-8B8A-40DB-BE90-A3AA27C6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r>
              <a:rPr lang="en-IN" sz="4700"/>
              <a:t>Competitive Benchmark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0D6BB-51D2-9D29-4586-C03DD96B6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024830"/>
              </p:ext>
            </p:extLst>
          </p:nvPr>
        </p:nvGraphicFramePr>
        <p:xfrm>
          <a:off x="963469" y="3043864"/>
          <a:ext cx="7386067" cy="2819050"/>
        </p:xfrm>
        <a:graphic>
          <a:graphicData uri="http://schemas.openxmlformats.org/drawingml/2006/table">
            <a:tbl>
              <a:tblPr/>
              <a:tblGrid>
                <a:gridCol w="2335935">
                  <a:extLst>
                    <a:ext uri="{9D8B030D-6E8A-4147-A177-3AD203B41FA5}">
                      <a16:colId xmlns:a16="http://schemas.microsoft.com/office/drawing/2014/main" val="179213732"/>
                    </a:ext>
                  </a:extLst>
                </a:gridCol>
                <a:gridCol w="1937764">
                  <a:extLst>
                    <a:ext uri="{9D8B030D-6E8A-4147-A177-3AD203B41FA5}">
                      <a16:colId xmlns:a16="http://schemas.microsoft.com/office/drawing/2014/main" val="2560121226"/>
                    </a:ext>
                  </a:extLst>
                </a:gridCol>
                <a:gridCol w="1556184">
                  <a:extLst>
                    <a:ext uri="{9D8B030D-6E8A-4147-A177-3AD203B41FA5}">
                      <a16:colId xmlns:a16="http://schemas.microsoft.com/office/drawing/2014/main" val="23602100"/>
                    </a:ext>
                  </a:extLst>
                </a:gridCol>
                <a:gridCol w="1556184">
                  <a:extLst>
                    <a:ext uri="{9D8B030D-6E8A-4147-A177-3AD203B41FA5}">
                      <a16:colId xmlns:a16="http://schemas.microsoft.com/office/drawing/2014/main" val="2160899338"/>
                    </a:ext>
                  </a:extLst>
                </a:gridCol>
              </a:tblGrid>
              <a:tr h="525586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SoulSense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Replika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Youper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936475"/>
                  </a:ext>
                </a:extLst>
              </a:tr>
              <a:tr h="525586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 / 10</a:t>
                      </a:r>
                      <a:endParaRPr lang="en-IN" sz="2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</a:t>
                      </a: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111951"/>
                  </a:ext>
                </a:extLst>
              </a:tr>
              <a:tr h="883939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Emotional Accuracy</a:t>
                      </a:r>
                      <a:endParaRPr lang="en-IN" sz="2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92.5%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85.3%</a:t>
                      </a:r>
                      <a:endParaRPr lang="en-IN" sz="2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89.1%</a:t>
                      </a: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999843"/>
                  </a:ext>
                </a:extLst>
              </a:tr>
              <a:tr h="883939"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</a:t>
                      </a:r>
                      <a:endParaRPr lang="en-IN" sz="24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850 </a:t>
                      </a:r>
                      <a:r>
                        <a:rPr lang="en-IN" sz="2400" b="1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IN" sz="2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1250 ms</a:t>
                      </a: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24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 </a:t>
                      </a:r>
                      <a:r>
                        <a:rPr lang="en-IN" sz="2400" b="0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IN" sz="2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9451" marR="119451" marT="59726" marB="59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329977"/>
                  </a:ext>
                </a:extLst>
              </a:tr>
            </a:tbl>
          </a:graphicData>
        </a:graphic>
      </p:graphicFrame>
      <p:pic>
        <p:nvPicPr>
          <p:cNvPr id="6" name="Video 5">
            <a:extLst>
              <a:ext uri="{FF2B5EF4-FFF2-40B4-BE49-F238E27FC236}">
                <a16:creationId xmlns:a16="http://schemas.microsoft.com/office/drawing/2014/main" id="{1A2C9314-1953-3FF9-C018-D9E3EC20B64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9EDC4-5A7C-2AA6-0477-C0DC4C73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rPr lang="en-IN" b="1" dirty="0"/>
              <a:t>Key Features of the Project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6AAB7-9CAD-1A71-B05B-937FFA633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Four Unique AI Personas</a:t>
            </a:r>
            <a:endParaRPr lang="en-IN" sz="13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Dr. Sarah</a:t>
            </a:r>
            <a:r>
              <a:rPr lang="en-IN" sz="1300" dirty="0"/>
              <a:t> – Clinical Psychologist for empathetic and reflective support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Alex</a:t>
            </a:r>
            <a:r>
              <a:rPr lang="en-IN" sz="1300" dirty="0"/>
              <a:t> – Peer Support Friend offering relatable and understanding conversations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Marcus</a:t>
            </a:r>
            <a:r>
              <a:rPr lang="en-IN" sz="1300" dirty="0"/>
              <a:t> – Life Coach &amp; Mentor for motivation and goal setting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Maya</a:t>
            </a:r>
            <a:r>
              <a:rPr lang="en-IN" sz="1300" dirty="0"/>
              <a:t> – Mindfulness Guide for calming and present-focused practices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Interactive Well-being Tools</a:t>
            </a:r>
            <a:endParaRPr lang="en-IN" sz="13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Journaling</a:t>
            </a:r>
            <a:r>
              <a:rPr lang="en-IN" sz="1300" dirty="0"/>
              <a:t> – Private emotional reflections with mood tracking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Goal Setting</a:t>
            </a:r>
            <a:r>
              <a:rPr lang="en-IN" sz="1300" dirty="0"/>
              <a:t> – Create and track achievable personal goals with suggestions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i="1" dirty="0"/>
              <a:t>Profile Dashboard</a:t>
            </a:r>
            <a:r>
              <a:rPr lang="en-IN" sz="1300" dirty="0"/>
              <a:t> – View mood history, session stats, and saved reflections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Engaging Conversation Features</a:t>
            </a:r>
            <a:endParaRPr lang="en-IN" sz="13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Real-time empathetic chat with quick-reply options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Guided breathing and mindfulness exercises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Personalized session recaps with motivational feedback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/>
              <a:t>Safe &amp; Supportive Experience</a:t>
            </a:r>
            <a:endParaRPr lang="en-IN" sz="1300" dirty="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Privacy-focused design to protect user data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dirty="0"/>
              <a:t>Positive reinforcement and encouragement at every interaction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  <p:pic>
        <p:nvPicPr>
          <p:cNvPr id="9" name="Video 8">
            <a:extLst>
              <a:ext uri="{FF2B5EF4-FFF2-40B4-BE49-F238E27FC236}">
                <a16:creationId xmlns:a16="http://schemas.microsoft.com/office/drawing/2014/main" id="{DFD85D0A-2308-7B27-B811-0B592C04B805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76360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Conclusion &amp; Future Work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IN" sz="1500" b="1" dirty="0"/>
              <a:t>Conclusion</a:t>
            </a:r>
            <a:endParaRPr lang="en-IN" sz="15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dirty="0" err="1"/>
              <a:t>SoulSenseAI</a:t>
            </a:r>
            <a:r>
              <a:rPr lang="en-IN" sz="1500" dirty="0"/>
              <a:t> shows an </a:t>
            </a:r>
            <a:r>
              <a:rPr lang="en-IN" sz="1500" b="1" dirty="0"/>
              <a:t>explainable, persona-driven</a:t>
            </a:r>
            <a:r>
              <a:rPr lang="en-IN" sz="1500" dirty="0"/>
              <a:t> companion that is </a:t>
            </a:r>
            <a:r>
              <a:rPr lang="en-IN" sz="1500" b="1" dirty="0"/>
              <a:t>fast</a:t>
            </a:r>
            <a:r>
              <a:rPr lang="en-IN" sz="1500" dirty="0"/>
              <a:t>, </a:t>
            </a:r>
            <a:r>
              <a:rPr lang="en-IN" sz="1500" b="1" dirty="0"/>
              <a:t>consistent</a:t>
            </a:r>
            <a:r>
              <a:rPr lang="en-IN" sz="1500" dirty="0"/>
              <a:t>, </a:t>
            </a:r>
            <a:r>
              <a:rPr lang="en-IN" sz="1500" b="1" dirty="0"/>
              <a:t>accessible</a:t>
            </a:r>
            <a:r>
              <a:rPr lang="en-IN" sz="1500" dirty="0"/>
              <a:t>, and </a:t>
            </a:r>
            <a:r>
              <a:rPr lang="en-IN" sz="1500" b="1" dirty="0"/>
              <a:t>clinically aligned</a:t>
            </a:r>
            <a:r>
              <a:rPr lang="en-IN" sz="1500" dirty="0"/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It fuses </a:t>
            </a:r>
            <a:r>
              <a:rPr lang="en-IN" sz="1500" b="1" dirty="0" err="1"/>
              <a:t>Replika</a:t>
            </a:r>
            <a:r>
              <a:rPr lang="en-IN" sz="1500" b="1" dirty="0"/>
              <a:t>-style empathy</a:t>
            </a:r>
            <a:r>
              <a:rPr lang="en-IN" sz="1500" dirty="0"/>
              <a:t> + </a:t>
            </a:r>
            <a:r>
              <a:rPr lang="en-IN" sz="1500" b="1" dirty="0" err="1"/>
              <a:t>Youper</a:t>
            </a:r>
            <a:r>
              <a:rPr lang="en-IN" sz="1500" b="1" dirty="0"/>
              <a:t>-like clinical grounding</a:t>
            </a:r>
            <a:r>
              <a:rPr lang="en-IN" sz="1500" dirty="0"/>
              <a:t> with </a:t>
            </a:r>
            <a:r>
              <a:rPr lang="en-IN" sz="1500" b="1" dirty="0"/>
              <a:t>transparent XAI</a:t>
            </a:r>
            <a:r>
              <a:rPr lang="en-IN" sz="1500" dirty="0"/>
              <a:t>, reducing barriers of cost, availability, and privacy.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With rigorous validation and careful scaling, it can </a:t>
            </a:r>
            <a:r>
              <a:rPr lang="en-IN" sz="1500" b="1" dirty="0"/>
              <a:t>transform stigma-free mental-health support</a:t>
            </a:r>
            <a:r>
              <a:rPr lang="en-IN" sz="1500" dirty="0"/>
              <a:t> globally.</a:t>
            </a:r>
          </a:p>
          <a:p>
            <a:pPr>
              <a:lnSpc>
                <a:spcPct val="90000"/>
              </a:lnSpc>
              <a:buNone/>
            </a:pPr>
            <a:r>
              <a:rPr lang="en-IN" sz="1500" b="1" dirty="0"/>
              <a:t>Future Work</a:t>
            </a:r>
            <a:endParaRPr lang="en-IN" sz="15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Clinical validation:</a:t>
            </a:r>
            <a:r>
              <a:rPr lang="en-IN" sz="1500" dirty="0"/>
              <a:t> Pilot studies with </a:t>
            </a:r>
            <a:r>
              <a:rPr lang="en-IN" sz="1500" b="1" dirty="0"/>
              <a:t>PHQ-9 / GAD-7</a:t>
            </a:r>
            <a:r>
              <a:rPr lang="en-IN" sz="1500" dirty="0"/>
              <a:t>, A/B tests across personas.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Adaptive personas:</a:t>
            </a:r>
            <a:r>
              <a:rPr lang="en-IN" sz="1500" dirty="0"/>
              <a:t> ML-driven tuning, reinforcement signals, </a:t>
            </a:r>
            <a:r>
              <a:rPr lang="en-IN" sz="1500" b="1" dirty="0"/>
              <a:t>human-in-the-loop</a:t>
            </a:r>
            <a:r>
              <a:rPr lang="en-IN" sz="1500" dirty="0"/>
              <a:t> safety.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Multimodal (opt-in):</a:t>
            </a:r>
            <a:r>
              <a:rPr lang="en-IN" sz="1500" dirty="0"/>
              <a:t> Text-first baseline; optional audio/face cues with </a:t>
            </a:r>
            <a:r>
              <a:rPr lang="en-IN" sz="1500" b="1" dirty="0"/>
              <a:t>privacy toggles</a:t>
            </a:r>
            <a:r>
              <a:rPr lang="en-IN" sz="1500" dirty="0"/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Wearables (opt-in):</a:t>
            </a:r>
            <a:r>
              <a:rPr lang="en-IN" sz="1500" dirty="0"/>
              <a:t> HRV/sleep for context; on-device/edge processing where possible.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Scale &amp; access:</a:t>
            </a:r>
            <a:r>
              <a:rPr lang="en-IN" sz="1500" dirty="0"/>
              <a:t> </a:t>
            </a:r>
            <a:r>
              <a:rPr lang="en-IN" sz="1500" b="1" dirty="0"/>
              <a:t>Multilingual/localization</a:t>
            </a:r>
            <a:r>
              <a:rPr lang="en-IN" sz="1500" dirty="0"/>
              <a:t>, group sessions, clinician dashboard &amp; audit trails.</a:t>
            </a:r>
          </a:p>
        </p:txBody>
      </p:sp>
      <p:pic>
        <p:nvPicPr>
          <p:cNvPr id="6" name="Video 5">
            <a:extLst>
              <a:ext uri="{FF2B5EF4-FFF2-40B4-BE49-F238E27FC236}">
                <a16:creationId xmlns:a16="http://schemas.microsoft.com/office/drawing/2014/main" id="{D9471A4A-81E5-CF9D-6ED3-A07EAD91118C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C982A-1AF5-050E-A075-0B291415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 dirty="0"/>
              <a:t>THANK YOU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8680B-9B10-4FE1-DABA-6BA9ED497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endParaRPr lang="en-US" sz="2100"/>
          </a:p>
        </p:txBody>
      </p:sp>
      <p:pic>
        <p:nvPicPr>
          <p:cNvPr id="15" name="Video 14">
            <a:extLst>
              <a:ext uri="{FF2B5EF4-FFF2-40B4-BE49-F238E27FC236}">
                <a16:creationId xmlns:a16="http://schemas.microsoft.com/office/drawing/2014/main" id="{218A7BE6-66C1-8FEA-B746-FEE21CD93C25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3126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1387</Words>
  <Application>Microsoft Macintosh PowerPoint</Application>
  <PresentationFormat>On-screen Show (4:3)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  SoulSense</vt:lpstr>
      <vt:lpstr>Problem Context</vt:lpstr>
      <vt:lpstr>Motivation &amp; Gaps</vt:lpstr>
      <vt:lpstr>Inspiration from Existing Tools</vt:lpstr>
      <vt:lpstr>Research Objectives</vt:lpstr>
      <vt:lpstr>System Architecture</vt:lpstr>
      <vt:lpstr>Data Flow Diagram</vt:lpstr>
      <vt:lpstr>AI Persona Design</vt:lpstr>
      <vt:lpstr>Evaluation Methodology</vt:lpstr>
      <vt:lpstr>Key Results</vt:lpstr>
      <vt:lpstr>Competitive Benchmark</vt:lpstr>
      <vt:lpstr>Key Features of the Project </vt:lpstr>
      <vt:lpstr>Conclusion &amp; 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Shreeraj Santosh Sangle</cp:lastModifiedBy>
  <cp:revision>16</cp:revision>
  <dcterms:created xsi:type="dcterms:W3CDTF">2013-01-27T09:14:16Z</dcterms:created>
  <dcterms:modified xsi:type="dcterms:W3CDTF">2025-08-10T23:16:15Z</dcterms:modified>
  <cp:category/>
</cp:coreProperties>
</file>