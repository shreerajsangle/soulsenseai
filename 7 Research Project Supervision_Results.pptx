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80" r:id="rId3"/>
    <p:sldId id="288" r:id="rId4"/>
    <p:sldId id="279" r:id="rId5"/>
    <p:sldId id="283" r:id="rId6"/>
    <p:sldId id="284" r:id="rId7"/>
    <p:sldId id="285" r:id="rId8"/>
    <p:sldId id="287" r:id="rId9"/>
    <p:sldId id="281"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277" autoAdjust="0"/>
  </p:normalViewPr>
  <p:slideViewPr>
    <p:cSldViewPr>
      <p:cViewPr varScale="1">
        <p:scale>
          <a:sx n="44" d="100"/>
          <a:sy n="44" d="100"/>
        </p:scale>
        <p:origin x="678" y="4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374E79-B038-4ABC-9B8A-8A4085B830FD}" type="datetimeFigureOut">
              <a:rPr lang="en-IE" smtClean="0"/>
              <a:t>25/09/2023</a:t>
            </a:fld>
            <a:endParaRPr lang="en-IE"/>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6F563A-A794-4A2E-A860-DA1684E0708B}" type="slidenum">
              <a:rPr lang="en-IE" smtClean="0"/>
              <a:t>‹#›</a:t>
            </a:fld>
            <a:endParaRPr lang="en-IE"/>
          </a:p>
        </p:txBody>
      </p:sp>
    </p:spTree>
    <p:extLst>
      <p:ext uri="{BB962C8B-B14F-4D97-AF65-F5344CB8AC3E}">
        <p14:creationId xmlns:p14="http://schemas.microsoft.com/office/powerpoint/2010/main" val="3952608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comprehensive analysis of the results and main findings of the study as well as the implications of these finding both from academic and practitioner perspective are presented</a:t>
            </a:r>
            <a:endParaRPr lang="en-IE" dirty="0"/>
          </a:p>
        </p:txBody>
      </p:sp>
      <p:sp>
        <p:nvSpPr>
          <p:cNvPr id="4" name="Slide Number Placeholder 3"/>
          <p:cNvSpPr>
            <a:spLocks noGrp="1"/>
          </p:cNvSpPr>
          <p:nvPr>
            <p:ph type="sldNum" sz="quarter" idx="10"/>
          </p:nvPr>
        </p:nvSpPr>
        <p:spPr/>
        <p:txBody>
          <a:bodyPr/>
          <a:lstStyle/>
          <a:p>
            <a:fld id="{8A6F563A-A794-4A2E-A860-DA1684E0708B}" type="slidenum">
              <a:rPr lang="en-IE" smtClean="0"/>
              <a:t>4</a:t>
            </a:fld>
            <a:endParaRPr lang="en-IE"/>
          </a:p>
        </p:txBody>
      </p:sp>
    </p:spTree>
    <p:extLst>
      <p:ext uri="{BB962C8B-B14F-4D97-AF65-F5344CB8AC3E}">
        <p14:creationId xmlns:p14="http://schemas.microsoft.com/office/powerpoint/2010/main" val="1099954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E"/>
          </a:p>
        </p:txBody>
      </p:sp>
      <p:sp>
        <p:nvSpPr>
          <p:cNvPr id="4" name="Date Placeholder 3"/>
          <p:cNvSpPr>
            <a:spLocks noGrp="1"/>
          </p:cNvSpPr>
          <p:nvPr>
            <p:ph type="dt" sz="half" idx="10"/>
          </p:nvPr>
        </p:nvSpPr>
        <p:spPr/>
        <p:txBody>
          <a:bodyPr/>
          <a:lstStyle/>
          <a:p>
            <a:fld id="{409B55CC-BC7B-42F9-895C-77ECBE377AAB}" type="datetimeFigureOut">
              <a:rPr lang="en-IE" smtClean="0"/>
              <a:t>25/09/2023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1514765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409B55CC-BC7B-42F9-895C-77ECBE377AAB}" type="datetimeFigureOut">
              <a:rPr lang="en-IE" smtClean="0"/>
              <a:t>25/09/2023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692652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9B55CC-BC7B-42F9-895C-77ECBE377AAB}" type="datetimeFigureOut">
              <a:rPr lang="en-IE" smtClean="0"/>
              <a:t>25/09/2023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3696917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p:cNvSpPr>
            <a:spLocks noGrp="1"/>
          </p:cNvSpPr>
          <p:nvPr>
            <p:ph type="dt" sz="half" idx="10"/>
          </p:nvPr>
        </p:nvSpPr>
        <p:spPr/>
        <p:txBody>
          <a:bodyPr/>
          <a:lstStyle/>
          <a:p>
            <a:fld id="{409B55CC-BC7B-42F9-895C-77ECBE377AAB}" type="datetimeFigureOut">
              <a:rPr lang="en-IE" smtClean="0"/>
              <a:t>25/09/2023</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3214569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p:cNvSpPr>
            <a:spLocks noGrp="1"/>
          </p:cNvSpPr>
          <p:nvPr>
            <p:ph type="dt" sz="half" idx="10"/>
          </p:nvPr>
        </p:nvSpPr>
        <p:spPr/>
        <p:txBody>
          <a:bodyPr/>
          <a:lstStyle/>
          <a:p>
            <a:fld id="{409B55CC-BC7B-42F9-895C-77ECBE377AAB}" type="datetimeFigureOut">
              <a:rPr lang="en-IE" smtClean="0"/>
              <a:t>25/09/2023</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1546573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Date Placeholder 2"/>
          <p:cNvSpPr>
            <a:spLocks noGrp="1"/>
          </p:cNvSpPr>
          <p:nvPr>
            <p:ph type="dt" sz="half" idx="10"/>
          </p:nvPr>
        </p:nvSpPr>
        <p:spPr/>
        <p:txBody>
          <a:bodyPr/>
          <a:lstStyle/>
          <a:p>
            <a:fld id="{409B55CC-BC7B-42F9-895C-77ECBE377AAB}" type="datetimeFigureOut">
              <a:rPr lang="en-IE" smtClean="0"/>
              <a:t>25/09/2023</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37595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9B55CC-BC7B-42F9-895C-77ECBE377AAB}" type="datetimeFigureOut">
              <a:rPr lang="en-IE" smtClean="0"/>
              <a:t>25/09/2023</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3890387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9B55CC-BC7B-42F9-895C-77ECBE377AAB}" type="datetimeFigureOut">
              <a:rPr lang="en-IE" smtClean="0"/>
              <a:t>25/09/2023</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2201423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9B55CC-BC7B-42F9-895C-77ECBE377AAB}" type="datetimeFigureOut">
              <a:rPr lang="en-IE" smtClean="0"/>
              <a:t>25/09/2023</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689375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409B55CC-BC7B-42F9-895C-77ECBE377AAB}" type="datetimeFigureOut">
              <a:rPr lang="en-IE" smtClean="0"/>
              <a:t>25/09/2023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1732041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409B55CC-BC7B-42F9-895C-77ECBE377AAB}" type="datetimeFigureOut">
              <a:rPr lang="en-IE" smtClean="0"/>
              <a:t>25/09/2023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811343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9B55CC-BC7B-42F9-895C-77ECBE377AAB}" type="datetimeFigureOut">
              <a:rPr lang="en-IE" smtClean="0"/>
              <a:t>25/09/2023</a:t>
            </a:fld>
            <a:endParaRPr lang="en-IE"/>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30BC68-17BA-4550-A90B-D05F7556F356}" type="slidenum">
              <a:rPr lang="en-IE" smtClean="0"/>
              <a:t>‹#›</a:t>
            </a:fld>
            <a:endParaRPr lang="en-IE"/>
          </a:p>
        </p:txBody>
      </p:sp>
    </p:spTree>
    <p:extLst>
      <p:ext uri="{BB962C8B-B14F-4D97-AF65-F5344CB8AC3E}">
        <p14:creationId xmlns:p14="http://schemas.microsoft.com/office/powerpoint/2010/main" val="2491737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GB" dirty="0">
                <a:solidFill>
                  <a:srgbClr val="0070C0"/>
                </a:solidFill>
              </a:rPr>
              <a:t>Results and Critical Analysis</a:t>
            </a:r>
            <a:endParaRPr lang="en-IE" dirty="0">
              <a:solidFill>
                <a:srgbClr val="0070C0"/>
              </a:solidFill>
            </a:endParaRPr>
          </a:p>
        </p:txBody>
      </p:sp>
      <p:sp>
        <p:nvSpPr>
          <p:cNvPr id="2" name="Title 1">
            <a:extLst>
              <a:ext uri="{FF2B5EF4-FFF2-40B4-BE49-F238E27FC236}">
                <a16:creationId xmlns:a16="http://schemas.microsoft.com/office/drawing/2014/main" id="{E2B01B44-0E5D-DCFF-B72C-796CA7850D82}"/>
              </a:ext>
            </a:extLst>
          </p:cNvPr>
          <p:cNvSpPr txBox="1">
            <a:spLocks/>
          </p:cNvSpPr>
          <p:nvPr/>
        </p:nvSpPr>
        <p:spPr>
          <a:xfrm>
            <a:off x="0" y="2276872"/>
            <a:ext cx="8964488" cy="1109985"/>
          </a:xfrm>
          <a:prstGeom prst="rect">
            <a:avLst/>
          </a:prstGeom>
        </p:spPr>
        <p:txBody>
          <a:bodyPr vert="horz" lIns="91440" tIns="45720" rIns="91440" bIns="45720" rtlCol="0" anchor="ctr">
            <a:normAutofit fontScale="850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br>
              <a:rPr lang="en-GB" b="1" dirty="0">
                <a:solidFill>
                  <a:srgbClr val="0070C0"/>
                </a:solidFill>
              </a:rPr>
            </a:br>
            <a:r>
              <a:rPr lang="en-GB" b="1" dirty="0">
                <a:solidFill>
                  <a:srgbClr val="0070C0"/>
                </a:solidFill>
              </a:rPr>
              <a:t> MSc Research Project/Internship/</a:t>
            </a:r>
            <a:r>
              <a:rPr lang="en-GB" sz="4400" b="1" dirty="0">
                <a:solidFill>
                  <a:srgbClr val="0070C0"/>
                </a:solidFill>
              </a:rPr>
              <a:t> Practicum</a:t>
            </a:r>
            <a:endParaRPr lang="en-IE" b="1" dirty="0">
              <a:solidFill>
                <a:srgbClr val="0070C0"/>
              </a:solidFill>
            </a:endParaRPr>
          </a:p>
        </p:txBody>
      </p:sp>
    </p:spTree>
    <p:extLst>
      <p:ext uri="{BB962C8B-B14F-4D97-AF65-F5344CB8AC3E}">
        <p14:creationId xmlns:p14="http://schemas.microsoft.com/office/powerpoint/2010/main" val="747775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IE" altLang="en-US" dirty="0">
                <a:solidFill>
                  <a:srgbClr val="0070C0"/>
                </a:solidFill>
              </a:rPr>
              <a:t>Writing the Results Section</a:t>
            </a:r>
          </a:p>
        </p:txBody>
      </p:sp>
      <p:sp>
        <p:nvSpPr>
          <p:cNvPr id="27651" name="Content Placeholder 2"/>
          <p:cNvSpPr>
            <a:spLocks noGrp="1"/>
          </p:cNvSpPr>
          <p:nvPr>
            <p:ph idx="1"/>
          </p:nvPr>
        </p:nvSpPr>
        <p:spPr/>
        <p:txBody>
          <a:bodyPr>
            <a:normAutofit/>
          </a:bodyPr>
          <a:lstStyle/>
          <a:p>
            <a:pPr marL="0" indent="0">
              <a:buNone/>
            </a:pPr>
            <a:r>
              <a:rPr lang="en-US" altLang="en-US" b="1" dirty="0"/>
              <a:t>Announcing your findings to the world!</a:t>
            </a:r>
          </a:p>
          <a:p>
            <a:pPr marL="0" indent="0">
              <a:buNone/>
            </a:pPr>
            <a:endParaRPr lang="en-US" altLang="en-US" sz="800" b="1" dirty="0"/>
          </a:p>
          <a:p>
            <a:r>
              <a:rPr lang="en-US" sz="2400" b="1" dirty="0"/>
              <a:t>In theory, this is the easiest part to write, because it is a straightforward commentary of exactly what you observed and found. </a:t>
            </a:r>
          </a:p>
          <a:p>
            <a:r>
              <a:rPr lang="en-US" sz="2400" b="1" dirty="0"/>
              <a:t>In reality, it can be a little tricky, because it is very easy to include too much information and bury the important findings.</a:t>
            </a:r>
          </a:p>
          <a:p>
            <a:r>
              <a:rPr lang="en-US" sz="2400" b="1" dirty="0"/>
              <a:t>ONLY the </a:t>
            </a:r>
            <a:r>
              <a:rPr lang="en-US" sz="2400" b="1" dirty="0">
                <a:solidFill>
                  <a:srgbClr val="C00000"/>
                </a:solidFill>
              </a:rPr>
              <a:t>most relevant results </a:t>
            </a:r>
            <a:r>
              <a:rPr lang="en-US" sz="2400" b="1" dirty="0"/>
              <a:t>that support your research question and objectives shall be presented</a:t>
            </a:r>
          </a:p>
          <a:p>
            <a:r>
              <a:rPr lang="en-US" altLang="en-US" sz="2400" b="1" dirty="0"/>
              <a:t>Also, remember about report’s length limitation!</a:t>
            </a:r>
            <a:endParaRPr lang="en-IE" altLang="en-US" sz="2400" b="1" dirty="0"/>
          </a:p>
        </p:txBody>
      </p:sp>
    </p:spTree>
    <p:extLst>
      <p:ext uri="{BB962C8B-B14F-4D97-AF65-F5344CB8AC3E}">
        <p14:creationId xmlns:p14="http://schemas.microsoft.com/office/powerpoint/2010/main" val="3725812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IE" altLang="en-US" dirty="0">
                <a:solidFill>
                  <a:srgbClr val="0070C0"/>
                </a:solidFill>
              </a:rPr>
              <a:t>Writing the Results Section</a:t>
            </a:r>
          </a:p>
        </p:txBody>
      </p:sp>
      <p:sp>
        <p:nvSpPr>
          <p:cNvPr id="27651" name="Content Placeholder 2"/>
          <p:cNvSpPr>
            <a:spLocks noGrp="1"/>
          </p:cNvSpPr>
          <p:nvPr>
            <p:ph idx="1"/>
          </p:nvPr>
        </p:nvSpPr>
        <p:spPr/>
        <p:txBody>
          <a:bodyPr>
            <a:normAutofit/>
          </a:bodyPr>
          <a:lstStyle/>
          <a:p>
            <a:pPr marL="0" indent="0">
              <a:buNone/>
            </a:pPr>
            <a:r>
              <a:rPr lang="en-US" altLang="en-US" b="1" dirty="0"/>
              <a:t>Announcing your findings to the world!</a:t>
            </a:r>
          </a:p>
          <a:p>
            <a:pPr marL="0" indent="0">
              <a:buNone/>
            </a:pPr>
            <a:endParaRPr lang="en-US" altLang="en-US" b="1" dirty="0"/>
          </a:p>
          <a:p>
            <a:pPr marL="0" indent="0">
              <a:buNone/>
            </a:pPr>
            <a:endParaRPr lang="en-US" altLang="en-US" sz="800" b="1" dirty="0"/>
          </a:p>
          <a:p>
            <a:r>
              <a:rPr lang="en-US" sz="2800" b="1" dirty="0">
                <a:solidFill>
                  <a:srgbClr val="C00000"/>
                </a:solidFill>
              </a:rPr>
              <a:t>GOAL</a:t>
            </a:r>
            <a:r>
              <a:rPr lang="en-US" sz="2800" dirty="0"/>
              <a:t>: </a:t>
            </a:r>
            <a:r>
              <a:rPr lang="en-US" sz="2800" b="1" dirty="0"/>
              <a:t>To provide a comprehensive analysis of the results and main findings of the study as well as the implications of these finding both from academic and practitioner perspective are presented</a:t>
            </a:r>
            <a:endParaRPr lang="en-IE" sz="2800" b="1" dirty="0"/>
          </a:p>
        </p:txBody>
      </p:sp>
    </p:spTree>
    <p:extLst>
      <p:ext uri="{BB962C8B-B14F-4D97-AF65-F5344CB8AC3E}">
        <p14:creationId xmlns:p14="http://schemas.microsoft.com/office/powerpoint/2010/main" val="1124526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solidFill>
                  <a:srgbClr val="0070C0"/>
                </a:solidFill>
              </a:rPr>
              <a:t>Results</a:t>
            </a:r>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596336" y="69806"/>
            <a:ext cx="1287587" cy="1287587"/>
          </a:xfrm>
        </p:spPr>
      </p:pic>
      <p:sp>
        <p:nvSpPr>
          <p:cNvPr id="6" name="Content Placeholder 2"/>
          <p:cNvSpPr txBox="1">
            <a:spLocks/>
          </p:cNvSpPr>
          <p:nvPr/>
        </p:nvSpPr>
        <p:spPr>
          <a:xfrm>
            <a:off x="457200" y="1196752"/>
            <a:ext cx="8229600" cy="547260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E" altLang="en-US" sz="2800" b="1" dirty="0"/>
              <a:t>Its not just about presenting results</a:t>
            </a:r>
          </a:p>
          <a:p>
            <a:r>
              <a:rPr lang="en-IE" altLang="en-US" sz="2400" b="1" dirty="0"/>
              <a:t>Need to interpret results and describe what the results mean in detail</a:t>
            </a:r>
          </a:p>
          <a:p>
            <a:pPr lvl="1">
              <a:buFont typeface="Courier New" panose="02070309020205020404" pitchFamily="49" charset="0"/>
              <a:buChar char="o"/>
            </a:pPr>
            <a:r>
              <a:rPr lang="en-US" sz="2200" dirty="0"/>
              <a:t>Implications of these finding both from academic and practitioner perspective</a:t>
            </a:r>
          </a:p>
          <a:p>
            <a:r>
              <a:rPr lang="en-IE" altLang="en-US" sz="2400" b="1" dirty="0"/>
              <a:t>How do the results relate to your research question ?</a:t>
            </a:r>
          </a:p>
          <a:p>
            <a:pPr lvl="1">
              <a:buFont typeface="Courier New" panose="02070309020205020404" pitchFamily="49" charset="0"/>
              <a:buChar char="o"/>
            </a:pPr>
            <a:r>
              <a:rPr lang="en-IE" altLang="en-US" sz="2200" dirty="0"/>
              <a:t>Are you solving the problem</a:t>
            </a:r>
          </a:p>
          <a:p>
            <a:pPr lvl="1">
              <a:buFont typeface="Courier New" panose="02070309020205020404" pitchFamily="49" charset="0"/>
              <a:buChar char="o"/>
            </a:pPr>
            <a:r>
              <a:rPr lang="en-IE" altLang="en-US" sz="2200" dirty="0"/>
              <a:t>Are you improving the problem</a:t>
            </a:r>
          </a:p>
          <a:p>
            <a:r>
              <a:rPr lang="en-IE" altLang="en-US" sz="2400" b="1" dirty="0"/>
              <a:t>Use visual aids such as graphs, charts, plots and so on</a:t>
            </a:r>
          </a:p>
          <a:p>
            <a:r>
              <a:rPr lang="en-IE" altLang="en-US" sz="2400" b="1" dirty="0"/>
              <a:t>Present  an </a:t>
            </a:r>
            <a:r>
              <a:rPr lang="en-IE" altLang="en-US" sz="2400" b="1" dirty="0">
                <a:solidFill>
                  <a:srgbClr val="C00000"/>
                </a:solidFill>
              </a:rPr>
              <a:t>in-depth and rigorous analysis </a:t>
            </a:r>
            <a:r>
              <a:rPr lang="en-IE" altLang="en-US" sz="2400" b="1" dirty="0"/>
              <a:t>of the result</a:t>
            </a:r>
          </a:p>
          <a:p>
            <a:r>
              <a:rPr lang="en-US" altLang="en-US" sz="2400" b="1" dirty="0"/>
              <a:t>It is very easy to put too much information into the results section and obscure your findings underneath reams of irrelevance.</a:t>
            </a:r>
            <a:endParaRPr lang="en-IE" altLang="en-US" sz="2400" b="1" dirty="0"/>
          </a:p>
          <a:p>
            <a:pPr marL="0" indent="0">
              <a:buNone/>
            </a:pPr>
            <a:endParaRPr lang="en-US" sz="2000" dirty="0"/>
          </a:p>
        </p:txBody>
      </p:sp>
    </p:spTree>
    <p:extLst>
      <p:ext uri="{BB962C8B-B14F-4D97-AF65-F5344CB8AC3E}">
        <p14:creationId xmlns:p14="http://schemas.microsoft.com/office/powerpoint/2010/main" val="2194627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IE" altLang="en-US" dirty="0">
                <a:solidFill>
                  <a:srgbClr val="0070C0"/>
                </a:solidFill>
              </a:rPr>
              <a:t>Too Much Information?</a:t>
            </a:r>
          </a:p>
        </p:txBody>
      </p:sp>
      <p:sp>
        <p:nvSpPr>
          <p:cNvPr id="27651" name="Content Placeholder 2"/>
          <p:cNvSpPr>
            <a:spLocks noGrp="1"/>
          </p:cNvSpPr>
          <p:nvPr>
            <p:ph idx="1"/>
          </p:nvPr>
        </p:nvSpPr>
        <p:spPr>
          <a:xfrm>
            <a:off x="457200" y="1600200"/>
            <a:ext cx="8229600" cy="4781128"/>
          </a:xfrm>
        </p:spPr>
        <p:txBody>
          <a:bodyPr>
            <a:normAutofit/>
          </a:bodyPr>
          <a:lstStyle/>
          <a:p>
            <a:pPr>
              <a:spcBef>
                <a:spcPts val="1200"/>
              </a:spcBef>
            </a:pPr>
            <a:r>
              <a:rPr lang="en-US" altLang="en-US" sz="2600" b="1" dirty="0"/>
              <a:t>If you make a table of your findings, you do not need to insert a graph highlighting the same data.</a:t>
            </a:r>
          </a:p>
          <a:p>
            <a:pPr>
              <a:spcBef>
                <a:spcPts val="1200"/>
              </a:spcBef>
            </a:pPr>
            <a:r>
              <a:rPr lang="en-US" altLang="en-US" sz="2600" b="1" dirty="0"/>
              <a:t>If you have a table of results, refer to it in the text, but do not repeat the figures - duplicate information will be penalized.</a:t>
            </a:r>
          </a:p>
          <a:p>
            <a:pPr>
              <a:spcBef>
                <a:spcPts val="1200"/>
              </a:spcBef>
            </a:pPr>
            <a:r>
              <a:rPr lang="en-US" altLang="en-US" sz="2600" b="1" dirty="0"/>
              <a:t>One common way of getting around this is to be less specific in the text. </a:t>
            </a:r>
          </a:p>
          <a:p>
            <a:pPr lvl="1">
              <a:buFont typeface="Courier New" panose="02070309020205020404" pitchFamily="49" charset="0"/>
              <a:buChar char="o"/>
            </a:pPr>
            <a:r>
              <a:rPr lang="en-US" altLang="en-US" sz="2200" b="1" dirty="0"/>
              <a:t>For example, if the result in table one shows 23.9%, you could write….</a:t>
            </a:r>
            <a:r>
              <a:rPr lang="en-US" sz="2200" b="1" i="1" dirty="0"/>
              <a:t>Table One shows that almost a quarter of…</a:t>
            </a:r>
            <a:r>
              <a:rPr lang="en-US" sz="2200" b="1" dirty="0"/>
              <a:t>..</a:t>
            </a:r>
            <a:endParaRPr lang="en-US" altLang="en-US" sz="2200" b="1" dirty="0"/>
          </a:p>
        </p:txBody>
      </p:sp>
    </p:spTree>
    <p:extLst>
      <p:ext uri="{BB962C8B-B14F-4D97-AF65-F5344CB8AC3E}">
        <p14:creationId xmlns:p14="http://schemas.microsoft.com/office/powerpoint/2010/main" val="2829643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Tips for Writing a Results Section</a:t>
            </a:r>
            <a:endParaRPr lang="en-IE" dirty="0">
              <a:solidFill>
                <a:srgbClr val="0070C0"/>
              </a:solidFill>
            </a:endParaRPr>
          </a:p>
        </p:txBody>
      </p:sp>
      <p:sp>
        <p:nvSpPr>
          <p:cNvPr id="3" name="Content Placeholder 2"/>
          <p:cNvSpPr>
            <a:spLocks noGrp="1"/>
          </p:cNvSpPr>
          <p:nvPr>
            <p:ph idx="1"/>
          </p:nvPr>
        </p:nvSpPr>
        <p:spPr>
          <a:xfrm>
            <a:off x="454896" y="1383374"/>
            <a:ext cx="8509592" cy="5257800"/>
          </a:xfrm>
        </p:spPr>
        <p:txBody>
          <a:bodyPr>
            <a:normAutofit fontScale="70000" lnSpcReduction="20000"/>
          </a:bodyPr>
          <a:lstStyle/>
          <a:p>
            <a:r>
              <a:rPr lang="en-US" sz="3400" b="1" dirty="0"/>
              <a:t>Perhaps the best way to use the results section is to show the most relevant information in the graphs, figures and tables.</a:t>
            </a:r>
          </a:p>
          <a:p>
            <a:endParaRPr lang="en-US" sz="3400" b="1" dirty="0"/>
          </a:p>
          <a:p>
            <a:r>
              <a:rPr lang="en-US" sz="3400" b="1" dirty="0"/>
              <a:t>The text, conversely, is used to direct the reader to those, also clarifying any unclear points. The text should also act as a link to the discussion section, highlighting any correlations and findings and leaving plenty of open questions.</a:t>
            </a:r>
          </a:p>
          <a:p>
            <a:endParaRPr lang="en-US" sz="3400" b="1" dirty="0"/>
          </a:p>
          <a:p>
            <a:r>
              <a:rPr lang="en-US" sz="3400" b="1" dirty="0"/>
              <a:t>Present the results and add a short discussion explaining them, before leading into the discussion proper.</a:t>
            </a:r>
          </a:p>
          <a:p>
            <a:endParaRPr lang="en-US" sz="3400" b="1" dirty="0"/>
          </a:p>
          <a:p>
            <a:r>
              <a:rPr lang="en-US" sz="3400" b="1" dirty="0"/>
              <a:t>This is very common where the research paper is straightforward and provides continuity. </a:t>
            </a:r>
          </a:p>
        </p:txBody>
      </p:sp>
    </p:spTree>
    <p:extLst>
      <p:ext uri="{BB962C8B-B14F-4D97-AF65-F5344CB8AC3E}">
        <p14:creationId xmlns:p14="http://schemas.microsoft.com/office/powerpoint/2010/main" val="3104993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Tips for Writing a Results Section</a:t>
            </a:r>
            <a:endParaRPr lang="en-IE" dirty="0">
              <a:solidFill>
                <a:srgbClr val="0070C0"/>
              </a:solidFill>
            </a:endParaRPr>
          </a:p>
        </p:txBody>
      </p:sp>
      <p:sp>
        <p:nvSpPr>
          <p:cNvPr id="3" name="Content Placeholder 2"/>
          <p:cNvSpPr>
            <a:spLocks noGrp="1"/>
          </p:cNvSpPr>
          <p:nvPr>
            <p:ph idx="1"/>
          </p:nvPr>
        </p:nvSpPr>
        <p:spPr/>
        <p:txBody>
          <a:bodyPr>
            <a:normAutofit/>
          </a:bodyPr>
          <a:lstStyle/>
          <a:p>
            <a:r>
              <a:rPr lang="en-US" sz="2400" b="1" dirty="0"/>
              <a:t>Be sure to include negative results - writing a results section without them not only invalidate the paper, but it is extremely bad science. </a:t>
            </a:r>
          </a:p>
          <a:p>
            <a:endParaRPr lang="en-US" sz="2400" b="1" dirty="0"/>
          </a:p>
          <a:p>
            <a:r>
              <a:rPr lang="en-US" sz="2400" b="1" dirty="0"/>
              <a:t>The negative results, and how you handle them, often gives you the makings of a great discussion section, so do not be afraid to highlight them.</a:t>
            </a:r>
          </a:p>
          <a:p>
            <a:endParaRPr lang="en-IE" dirty="0"/>
          </a:p>
        </p:txBody>
      </p:sp>
    </p:spTree>
    <p:extLst>
      <p:ext uri="{BB962C8B-B14F-4D97-AF65-F5344CB8AC3E}">
        <p14:creationId xmlns:p14="http://schemas.microsoft.com/office/powerpoint/2010/main" val="3492558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IE" altLang="en-US" dirty="0">
                <a:solidFill>
                  <a:srgbClr val="0070C0"/>
                </a:solidFill>
              </a:rPr>
              <a:t>Results and Evaluation</a:t>
            </a:r>
          </a:p>
        </p:txBody>
      </p:sp>
      <p:sp>
        <p:nvSpPr>
          <p:cNvPr id="27651" name="Content Placeholder 2"/>
          <p:cNvSpPr>
            <a:spLocks noGrp="1"/>
          </p:cNvSpPr>
          <p:nvPr>
            <p:ph idx="1"/>
          </p:nvPr>
        </p:nvSpPr>
        <p:spPr>
          <a:xfrm>
            <a:off x="251520" y="1600200"/>
            <a:ext cx="8568952" cy="4781128"/>
          </a:xfrm>
        </p:spPr>
        <p:txBody>
          <a:bodyPr>
            <a:normAutofit fontScale="77500" lnSpcReduction="20000"/>
          </a:bodyPr>
          <a:lstStyle/>
          <a:p>
            <a:r>
              <a:rPr lang="en-US" altLang="en-US" sz="3100" b="1" dirty="0"/>
              <a:t>You should choose criteria by which to judge your results. For example, </a:t>
            </a:r>
          </a:p>
          <a:p>
            <a:pPr lvl="1">
              <a:buFont typeface="Courier New" panose="02070309020205020404" pitchFamily="49" charset="0"/>
              <a:buChar char="o"/>
            </a:pPr>
            <a:r>
              <a:rPr lang="en-US" altLang="en-US" dirty="0"/>
              <a:t>the adequacy, </a:t>
            </a:r>
          </a:p>
          <a:p>
            <a:pPr lvl="1">
              <a:buFont typeface="Courier New" panose="02070309020205020404" pitchFamily="49" charset="0"/>
              <a:buChar char="o"/>
            </a:pPr>
            <a:r>
              <a:rPr lang="en-US" altLang="en-US" dirty="0"/>
              <a:t>coverage, </a:t>
            </a:r>
          </a:p>
          <a:p>
            <a:pPr lvl="1">
              <a:buFont typeface="Courier New" panose="02070309020205020404" pitchFamily="49" charset="0"/>
              <a:buChar char="o"/>
            </a:pPr>
            <a:r>
              <a:rPr lang="en-US" altLang="en-US" dirty="0"/>
              <a:t>efficiency, </a:t>
            </a:r>
          </a:p>
          <a:p>
            <a:pPr lvl="1">
              <a:buFont typeface="Courier New" panose="02070309020205020404" pitchFamily="49" charset="0"/>
              <a:buChar char="o"/>
            </a:pPr>
            <a:r>
              <a:rPr lang="en-US" altLang="en-US" dirty="0"/>
              <a:t>productiveness, </a:t>
            </a:r>
          </a:p>
          <a:p>
            <a:pPr lvl="1">
              <a:buFont typeface="Courier New" panose="02070309020205020404" pitchFamily="49" charset="0"/>
              <a:buChar char="o"/>
            </a:pPr>
            <a:r>
              <a:rPr lang="en-US" altLang="en-US" dirty="0"/>
              <a:t>effectiveness, </a:t>
            </a:r>
          </a:p>
          <a:p>
            <a:pPr lvl="1">
              <a:buFont typeface="Courier New" panose="02070309020205020404" pitchFamily="49" charset="0"/>
              <a:buChar char="o"/>
            </a:pPr>
            <a:r>
              <a:rPr lang="en-US" altLang="en-US" dirty="0"/>
              <a:t>elegance, </a:t>
            </a:r>
          </a:p>
          <a:p>
            <a:pPr lvl="1">
              <a:buFont typeface="Courier New" panose="02070309020205020404" pitchFamily="49" charset="0"/>
              <a:buChar char="o"/>
            </a:pPr>
            <a:r>
              <a:rPr lang="en-US" altLang="en-US" dirty="0"/>
              <a:t>user friendliness, </a:t>
            </a:r>
          </a:p>
          <a:p>
            <a:r>
              <a:rPr lang="en-US" altLang="en-US" sz="3100" b="1" dirty="0"/>
              <a:t>Then clearly, honestly and fairly adjudicate your results according to fair measures and report those results. </a:t>
            </a:r>
          </a:p>
          <a:p>
            <a:endParaRPr lang="en-US" altLang="en-US" sz="1000" b="1" dirty="0"/>
          </a:p>
          <a:p>
            <a:r>
              <a:rPr lang="en-US" sz="3100" b="1" u="sng" dirty="0"/>
              <a:t>Statistical tools </a:t>
            </a:r>
            <a:r>
              <a:rPr lang="en-US" sz="3100" b="1" dirty="0"/>
              <a:t>should be used </a:t>
            </a:r>
            <a:r>
              <a:rPr lang="en-US" sz="3100" b="1" u="sng" dirty="0"/>
              <a:t>to critically evaluate and assess </a:t>
            </a:r>
            <a:r>
              <a:rPr lang="en-US" sz="3100" b="1" dirty="0"/>
              <a:t>the experimental research </a:t>
            </a:r>
            <a:r>
              <a:rPr lang="en-US" sz="3100" b="1" u="sng" dirty="0"/>
              <a:t>outputs and levels of significance</a:t>
            </a:r>
            <a:r>
              <a:rPr lang="en-US" sz="3100" b="1" dirty="0"/>
              <a:t>. </a:t>
            </a:r>
          </a:p>
        </p:txBody>
      </p:sp>
    </p:spTree>
    <p:extLst>
      <p:ext uri="{BB962C8B-B14F-4D97-AF65-F5344CB8AC3E}">
        <p14:creationId xmlns:p14="http://schemas.microsoft.com/office/powerpoint/2010/main" val="18306595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IE" altLang="en-US" dirty="0">
                <a:solidFill>
                  <a:srgbClr val="0070C0"/>
                </a:solidFill>
              </a:rPr>
              <a:t>Results and Evaluation</a:t>
            </a:r>
          </a:p>
        </p:txBody>
      </p:sp>
      <p:sp>
        <p:nvSpPr>
          <p:cNvPr id="27651" name="Content Placeholder 2"/>
          <p:cNvSpPr>
            <a:spLocks noGrp="1"/>
          </p:cNvSpPr>
          <p:nvPr>
            <p:ph idx="1"/>
          </p:nvPr>
        </p:nvSpPr>
        <p:spPr>
          <a:xfrm>
            <a:off x="161764" y="1372236"/>
            <a:ext cx="8820472" cy="4925144"/>
          </a:xfrm>
        </p:spPr>
        <p:txBody>
          <a:bodyPr>
            <a:normAutofit/>
          </a:bodyPr>
          <a:lstStyle/>
          <a:p>
            <a:r>
              <a:rPr lang="en-US" altLang="en-US" sz="2400" b="1" dirty="0"/>
              <a:t>You should repeat, whenever possible, these tests against competing or previous approaches </a:t>
            </a:r>
          </a:p>
          <a:p>
            <a:pPr lvl="1">
              <a:buFont typeface="Courier New" panose="02070309020205020404" pitchFamily="49" charset="0"/>
              <a:buChar char="o"/>
            </a:pPr>
            <a:r>
              <a:rPr lang="en-US" altLang="en-US" sz="2200" dirty="0"/>
              <a:t>If you are clever, you will win hands down in such comparisons or such comparisons will be obviated by system differences). </a:t>
            </a:r>
          </a:p>
          <a:p>
            <a:r>
              <a:rPr lang="en-US" altLang="en-US" sz="2400" b="1" dirty="0"/>
              <a:t>The competing or previous approaches you compare against must have been introduced in Literature Review (in fact that may be the only reason they actively appear in Literature Review) and you should include pointers back to Literature Review. </a:t>
            </a:r>
          </a:p>
          <a:p>
            <a:r>
              <a:rPr lang="en-US" altLang="en-US" sz="2400" b="1" dirty="0"/>
              <a:t>Be honest in your evaluations.</a:t>
            </a:r>
          </a:p>
          <a:p>
            <a:r>
              <a:rPr lang="en-US" altLang="en-US" sz="2400" b="1" dirty="0"/>
              <a:t>If you give other approaches the benefit of the doubt every time, and develop a superior technique, your results will be all the more impressive. </a:t>
            </a:r>
          </a:p>
          <a:p>
            <a:endParaRPr lang="en-IE" altLang="en-US" dirty="0"/>
          </a:p>
        </p:txBody>
      </p:sp>
    </p:spTree>
    <p:extLst>
      <p:ext uri="{BB962C8B-B14F-4D97-AF65-F5344CB8AC3E}">
        <p14:creationId xmlns:p14="http://schemas.microsoft.com/office/powerpoint/2010/main" val="795468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1556</TotalTime>
  <Words>712</Words>
  <Application>Microsoft Office PowerPoint</Application>
  <PresentationFormat>On-screen Show (4:3)</PresentationFormat>
  <Paragraphs>61</Paragraphs>
  <Slides>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Courier New</vt:lpstr>
      <vt:lpstr>Office Theme</vt:lpstr>
      <vt:lpstr>PowerPoint Presentation</vt:lpstr>
      <vt:lpstr>Writing the Results Section</vt:lpstr>
      <vt:lpstr>Writing the Results Section</vt:lpstr>
      <vt:lpstr>Results</vt:lpstr>
      <vt:lpstr>Too Much Information?</vt:lpstr>
      <vt:lpstr>Tips for Writing a Results Section</vt:lpstr>
      <vt:lpstr>Tips for Writing a Results Section</vt:lpstr>
      <vt:lpstr>Results and Evaluation</vt:lpstr>
      <vt:lpstr>Results and Evaluation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dc:title>
  <dc:creator>Orla Lahart</dc:creator>
  <cp:lastModifiedBy>Cristina Hava Muntean</cp:lastModifiedBy>
  <cp:revision>38</cp:revision>
  <cp:lastPrinted>2011-01-17T13:05:52Z</cp:lastPrinted>
  <dcterms:created xsi:type="dcterms:W3CDTF">2011-01-17T12:51:36Z</dcterms:created>
  <dcterms:modified xsi:type="dcterms:W3CDTF">2023-09-25T01:20:01Z</dcterms:modified>
</cp:coreProperties>
</file>