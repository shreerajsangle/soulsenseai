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80" r:id="rId3"/>
    <p:sldId id="281" r:id="rId4"/>
    <p:sldId id="282" r:id="rId5"/>
    <p:sldId id="283" r:id="rId6"/>
    <p:sldId id="284" r:id="rId7"/>
    <p:sldId id="285" r:id="rId8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1" d="100"/>
          <a:sy n="61" d="100"/>
        </p:scale>
        <p:origin x="198" y="7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I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B55CC-BC7B-42F9-895C-77ECBE377AAB}" type="datetimeFigureOut">
              <a:rPr lang="en-IE" smtClean="0"/>
              <a:t>25/09/2023</a:t>
            </a:fld>
            <a:endParaRPr lang="en-I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30BC68-17BA-4550-A90B-D05F7556F356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15147658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B55CC-BC7B-42F9-895C-77ECBE377AAB}" type="datetimeFigureOut">
              <a:rPr lang="en-IE" smtClean="0"/>
              <a:t>25/09/2023</a:t>
            </a:fld>
            <a:endParaRPr lang="en-I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30BC68-17BA-4550-A90B-D05F7556F356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6926521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B55CC-BC7B-42F9-895C-77ECBE377AAB}" type="datetimeFigureOut">
              <a:rPr lang="en-IE" smtClean="0"/>
              <a:t>25/09/2023</a:t>
            </a:fld>
            <a:endParaRPr lang="en-I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30BC68-17BA-4550-A90B-D05F7556F356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6969174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B55CC-BC7B-42F9-895C-77ECBE377AAB}" type="datetimeFigureOut">
              <a:rPr lang="en-IE" smtClean="0"/>
              <a:t>25/09/2023</a:t>
            </a:fld>
            <a:endParaRPr lang="en-I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30BC68-17BA-4550-A90B-D05F7556F356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2145698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B55CC-BC7B-42F9-895C-77ECBE377AAB}" type="datetimeFigureOut">
              <a:rPr lang="en-IE" smtClean="0"/>
              <a:t>25/09/2023</a:t>
            </a:fld>
            <a:endParaRPr lang="en-IE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30BC68-17BA-4550-A90B-D05F7556F356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15465730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B55CC-BC7B-42F9-895C-77ECBE377AAB}" type="datetimeFigureOut">
              <a:rPr lang="en-IE" smtClean="0"/>
              <a:t>25/09/2023</a:t>
            </a:fld>
            <a:endParaRPr lang="en-IE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30BC68-17BA-4550-A90B-D05F7556F356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75953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B55CC-BC7B-42F9-895C-77ECBE377AAB}" type="datetimeFigureOut">
              <a:rPr lang="en-IE" smtClean="0"/>
              <a:t>25/09/2023</a:t>
            </a:fld>
            <a:endParaRPr lang="en-IE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30BC68-17BA-4550-A90B-D05F7556F356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8903878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B55CC-BC7B-42F9-895C-77ECBE377AAB}" type="datetimeFigureOut">
              <a:rPr lang="en-IE" smtClean="0"/>
              <a:t>25/09/2023</a:t>
            </a:fld>
            <a:endParaRPr lang="en-I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30BC68-17BA-4550-A90B-D05F7556F356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22014234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E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B55CC-BC7B-42F9-895C-77ECBE377AAB}" type="datetimeFigureOut">
              <a:rPr lang="en-IE" smtClean="0"/>
              <a:t>25/09/2023</a:t>
            </a:fld>
            <a:endParaRPr lang="en-I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30BC68-17BA-4550-A90B-D05F7556F356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6893756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B55CC-BC7B-42F9-895C-77ECBE377AAB}" type="datetimeFigureOut">
              <a:rPr lang="en-IE" smtClean="0"/>
              <a:t>25/09/2023</a:t>
            </a:fld>
            <a:endParaRPr lang="en-I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30BC68-17BA-4550-A90B-D05F7556F356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17320411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B55CC-BC7B-42F9-895C-77ECBE377AAB}" type="datetimeFigureOut">
              <a:rPr lang="en-IE" smtClean="0"/>
              <a:t>25/09/2023</a:t>
            </a:fld>
            <a:endParaRPr lang="en-I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30BC68-17BA-4550-A90B-D05F7556F356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8113436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09B55CC-BC7B-42F9-895C-77ECBE377AAB}" type="datetimeFigureOut">
              <a:rPr lang="en-IE" smtClean="0"/>
              <a:t>25/09/2023</a:t>
            </a:fld>
            <a:endParaRPr lang="en-I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F30BC68-17BA-4550-A90B-D05F7556F356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24917372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 dirty="0">
                <a:solidFill>
                  <a:srgbClr val="0070C0"/>
                </a:solidFill>
              </a:rPr>
              <a:t>Research Methodology</a:t>
            </a:r>
          </a:p>
          <a:p>
            <a:r>
              <a:rPr lang="en-GB" dirty="0">
                <a:solidFill>
                  <a:srgbClr val="0070C0"/>
                </a:solidFill>
              </a:rPr>
              <a:t>Design and Implementation</a:t>
            </a:r>
            <a:endParaRPr lang="en-IE" dirty="0">
              <a:solidFill>
                <a:srgbClr val="0070C0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5368E3B-C836-0F32-5C8E-E12013536D61}"/>
              </a:ext>
            </a:extLst>
          </p:cNvPr>
          <p:cNvSpPr txBox="1">
            <a:spLocks/>
          </p:cNvSpPr>
          <p:nvPr/>
        </p:nvSpPr>
        <p:spPr>
          <a:xfrm>
            <a:off x="0" y="2276872"/>
            <a:ext cx="8964488" cy="1109985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85000" lnSpcReduction="100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br>
              <a:rPr lang="en-GB" b="1" dirty="0">
                <a:solidFill>
                  <a:srgbClr val="0070C0"/>
                </a:solidFill>
              </a:rPr>
            </a:br>
            <a:r>
              <a:rPr lang="en-GB" b="1" dirty="0">
                <a:solidFill>
                  <a:srgbClr val="0070C0"/>
                </a:solidFill>
              </a:rPr>
              <a:t> MSc Research Project/Internship/</a:t>
            </a:r>
            <a:r>
              <a:rPr lang="en-GB" sz="4400" b="1" dirty="0">
                <a:solidFill>
                  <a:srgbClr val="0070C0"/>
                </a:solidFill>
              </a:rPr>
              <a:t> Practicum</a:t>
            </a:r>
            <a:endParaRPr lang="en-IE" b="1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4777532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altLang="en-US" dirty="0">
                <a:solidFill>
                  <a:srgbClr val="0070C0"/>
                </a:solidFill>
              </a:rPr>
              <a:t>Research Methodology</a:t>
            </a:r>
          </a:p>
        </p:txBody>
      </p:sp>
      <p:sp>
        <p:nvSpPr>
          <p:cNvPr id="23555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Bef>
                <a:spcPts val="1200"/>
              </a:spcBef>
            </a:pPr>
            <a:r>
              <a:rPr lang="en-US" altLang="en-US" sz="2400" b="1" dirty="0"/>
              <a:t>Scientific paper needs to be verifiable by other researchers, so that they can review the results by replicating the experiment and guaranteeing the </a:t>
            </a:r>
            <a:r>
              <a:rPr lang="en-IE" altLang="en-US" sz="2400" b="1" dirty="0"/>
              <a:t>validity.</a:t>
            </a:r>
          </a:p>
          <a:p>
            <a:pPr>
              <a:spcBef>
                <a:spcPts val="1200"/>
              </a:spcBef>
            </a:pPr>
            <a:r>
              <a:rPr lang="en-US" altLang="en-US" sz="2400" b="1" dirty="0"/>
              <a:t>You need to give a completely accurate description of the research procedure you followed, equipment used, the technique(s), applied, set-up of scenarios/case studies run</a:t>
            </a:r>
          </a:p>
          <a:p>
            <a:pPr>
              <a:spcBef>
                <a:spcPts val="1200"/>
              </a:spcBef>
            </a:pPr>
            <a:r>
              <a:rPr lang="en-US" altLang="en-US" sz="2400" b="1" dirty="0"/>
              <a:t>You must provide an explanation of how the raw data was compiled and analyzed used for gathering the data.</a:t>
            </a:r>
          </a:p>
          <a:p>
            <a:pPr>
              <a:spcBef>
                <a:spcPts val="1200"/>
              </a:spcBef>
            </a:pPr>
            <a:r>
              <a:rPr lang="en-IE" altLang="en-US" sz="2400" b="1" dirty="0"/>
              <a:t>Detail all the steps from data collection to final results (Process)</a:t>
            </a:r>
          </a:p>
        </p:txBody>
      </p:sp>
    </p:spTree>
    <p:extLst>
      <p:ext uri="{BB962C8B-B14F-4D97-AF65-F5344CB8AC3E}">
        <p14:creationId xmlns:p14="http://schemas.microsoft.com/office/powerpoint/2010/main" val="394492975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E" altLang="en-US" dirty="0">
                <a:solidFill>
                  <a:srgbClr val="0070C0"/>
                </a:solidFill>
              </a:rPr>
              <a:t>Research Methodology</a:t>
            </a:r>
          </a:p>
        </p:txBody>
      </p:sp>
      <p:sp>
        <p:nvSpPr>
          <p:cNvPr id="24579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Bef>
                <a:spcPts val="1200"/>
              </a:spcBef>
            </a:pPr>
            <a:r>
              <a:rPr lang="en-US" altLang="en-US" sz="2400" b="1" dirty="0"/>
              <a:t>It is useful for the reader to understand how you obtained your data, because it allows them to evaluate the quality of the results.</a:t>
            </a:r>
          </a:p>
          <a:p>
            <a:pPr>
              <a:spcBef>
                <a:spcPts val="1200"/>
              </a:spcBef>
            </a:pPr>
            <a:r>
              <a:rPr lang="en-US" altLang="en-US" sz="2400" b="1" dirty="0"/>
              <a:t>If you were trying to obtain data about shopping preferences, you will obtain different results from a multiple-choice questionnaire than from a series of open interviews</a:t>
            </a:r>
          </a:p>
          <a:p>
            <a:pPr>
              <a:spcBef>
                <a:spcPts val="1200"/>
              </a:spcBef>
            </a:pPr>
            <a:r>
              <a:rPr lang="en-US" altLang="en-US" sz="2400" b="1" dirty="0"/>
              <a:t>If the research about shopping preferences were built upon a single case study, it would have little external validity, and the reader would treat the results with the contempt that they deserve.</a:t>
            </a:r>
            <a:endParaRPr lang="en-IE" altLang="en-US" sz="2400" b="1" dirty="0"/>
          </a:p>
        </p:txBody>
      </p:sp>
    </p:spTree>
    <p:extLst>
      <p:ext uri="{BB962C8B-B14F-4D97-AF65-F5344CB8AC3E}">
        <p14:creationId xmlns:p14="http://schemas.microsoft.com/office/powerpoint/2010/main" val="254061267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altLang="en-US" dirty="0"/>
              <a:t>Research Methodology</a:t>
            </a:r>
          </a:p>
        </p:txBody>
      </p:sp>
      <p:sp>
        <p:nvSpPr>
          <p:cNvPr id="2560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E" altLang="en-US" sz="2400" b="1" dirty="0"/>
              <a:t>The methodology can </a:t>
            </a:r>
            <a:r>
              <a:rPr lang="en-US" altLang="en-US" sz="2400" b="1" dirty="0"/>
              <a:t>be divided into a few sections</a:t>
            </a:r>
            <a:endParaRPr lang="en-US" altLang="en-US" sz="2400" dirty="0"/>
          </a:p>
          <a:p>
            <a:pPr lvl="1">
              <a:buFont typeface="Courier New" panose="02070309020205020404" pitchFamily="49" charset="0"/>
              <a:buChar char="o"/>
            </a:pPr>
            <a:r>
              <a:rPr lang="en-US" altLang="en-US" sz="2200" dirty="0"/>
              <a:t>Describe the steps you followed in you research.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altLang="en-US" sz="2200" dirty="0"/>
              <a:t>Describe the materials and equipment used in the research.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altLang="en-US" sz="2200" dirty="0"/>
              <a:t>Explain how the samples were gathered, any randomization techniques and how the samples </a:t>
            </a:r>
            <a:r>
              <a:rPr lang="en-IE" altLang="en-US" sz="2200" dirty="0"/>
              <a:t>were prepared (e.g. cleaned and transformed)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altLang="en-US" sz="2200" dirty="0"/>
              <a:t>Explain how the measurements were made and what calculations were performed upon the </a:t>
            </a:r>
            <a:r>
              <a:rPr lang="en-IE" altLang="en-US" sz="2200" dirty="0"/>
              <a:t>raw data.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altLang="en-US" sz="2200" dirty="0"/>
              <a:t>Describe the statistical techniques used upon the data.</a:t>
            </a:r>
            <a:endParaRPr lang="en-IE" altLang="en-US" sz="2200" dirty="0"/>
          </a:p>
        </p:txBody>
      </p:sp>
    </p:spTree>
    <p:extLst>
      <p:ext uri="{BB962C8B-B14F-4D97-AF65-F5344CB8AC3E}">
        <p14:creationId xmlns:p14="http://schemas.microsoft.com/office/powerpoint/2010/main" val="386019191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altLang="en-US" dirty="0">
                <a:solidFill>
                  <a:srgbClr val="0070C0"/>
                </a:solidFill>
              </a:rPr>
              <a:t>Known Issues</a:t>
            </a:r>
          </a:p>
        </p:txBody>
      </p:sp>
      <p:sp>
        <p:nvSpPr>
          <p:cNvPr id="26627" name="Content Placeholder 2"/>
          <p:cNvSpPr>
            <a:spLocks noGrp="1"/>
          </p:cNvSpPr>
          <p:nvPr>
            <p:ph idx="1"/>
          </p:nvPr>
        </p:nvSpPr>
        <p:spPr>
          <a:xfrm>
            <a:off x="457200" y="1628800"/>
            <a:ext cx="8435280" cy="4525963"/>
          </a:xfrm>
        </p:spPr>
        <p:txBody>
          <a:bodyPr/>
          <a:lstStyle/>
          <a:p>
            <a:r>
              <a:rPr lang="en-IE" altLang="en-US" b="1" dirty="0"/>
              <a:t>Be clear on the difference between </a:t>
            </a:r>
            <a:r>
              <a:rPr lang="en-IE" altLang="en-US" b="1" dirty="0">
                <a:solidFill>
                  <a:srgbClr val="C00000"/>
                </a:solidFill>
              </a:rPr>
              <a:t>research methodology</a:t>
            </a:r>
            <a:r>
              <a:rPr lang="en-IE" altLang="en-US" b="1" dirty="0"/>
              <a:t> and </a:t>
            </a:r>
            <a:r>
              <a:rPr lang="en-IE" altLang="en-US" b="1" dirty="0">
                <a:solidFill>
                  <a:srgbClr val="C00000"/>
                </a:solidFill>
              </a:rPr>
              <a:t>data analytics methodology</a:t>
            </a:r>
            <a:r>
              <a:rPr lang="en-IE" altLang="en-US" b="1" dirty="0"/>
              <a:t>. </a:t>
            </a:r>
          </a:p>
          <a:p>
            <a:r>
              <a:rPr lang="en-IE" altLang="en-US" b="1" dirty="0"/>
              <a:t>CRISP-DM should be </a:t>
            </a:r>
            <a:r>
              <a:rPr lang="en-IE" altLang="en-US" b="1" dirty="0" err="1"/>
              <a:t>approx</a:t>
            </a:r>
            <a:r>
              <a:rPr lang="en-IE" altLang="en-US" b="1" dirty="0"/>
              <a:t> 1 sentence in a research methodology.</a:t>
            </a:r>
          </a:p>
        </p:txBody>
      </p:sp>
    </p:spTree>
    <p:extLst>
      <p:ext uri="{BB962C8B-B14F-4D97-AF65-F5344CB8AC3E}">
        <p14:creationId xmlns:p14="http://schemas.microsoft.com/office/powerpoint/2010/main" val="395263088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solidFill>
                  <a:srgbClr val="0070C0"/>
                </a:solidFill>
              </a:rPr>
              <a:t>Design Specification</a:t>
            </a:r>
            <a:endParaRPr lang="en-IE" dirty="0">
              <a:solidFill>
                <a:srgbClr val="0070C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b="1" dirty="0"/>
              <a:t>The techniques and/or architecture / framework that underlie the implementation and the associated requirements are identified and presented</a:t>
            </a:r>
          </a:p>
          <a:p>
            <a:pPr marL="0" indent="0">
              <a:buNone/>
            </a:pPr>
            <a:endParaRPr lang="en-US" sz="2400" b="1" dirty="0"/>
          </a:p>
          <a:p>
            <a:r>
              <a:rPr lang="en-US" sz="2400" b="1" dirty="0"/>
              <a:t>If a new algorithm or model is proposed, a word-based description of the algorithm/model functionality should be included</a:t>
            </a:r>
          </a:p>
        </p:txBody>
      </p:sp>
    </p:spTree>
    <p:extLst>
      <p:ext uri="{BB962C8B-B14F-4D97-AF65-F5344CB8AC3E}">
        <p14:creationId xmlns:p14="http://schemas.microsoft.com/office/powerpoint/2010/main" val="247439093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3528" y="274638"/>
            <a:ext cx="8363272" cy="1143000"/>
          </a:xfrm>
        </p:spPr>
        <p:txBody>
          <a:bodyPr>
            <a:normAutofit fontScale="90000"/>
          </a:bodyPr>
          <a:lstStyle/>
          <a:p>
            <a:r>
              <a:rPr lang="en-US" dirty="0">
                <a:solidFill>
                  <a:srgbClr val="0070C0"/>
                </a:solidFill>
              </a:rPr>
              <a:t>Implementation/Solution Development </a:t>
            </a:r>
            <a:endParaRPr lang="en-IE" dirty="0">
              <a:solidFill>
                <a:srgbClr val="0070C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b="1" dirty="0"/>
              <a:t>The purpose is to describe only the final stage of the implementation.</a:t>
            </a:r>
            <a:r>
              <a:rPr lang="en-IE" sz="2400" b="1" dirty="0"/>
              <a:t> It should describe the outputs produced, e.g. transformed data, code written, models developed, questionnaires administered. </a:t>
            </a:r>
          </a:p>
          <a:p>
            <a:r>
              <a:rPr lang="en-IE" sz="2400" b="1" dirty="0"/>
              <a:t>The description should also include what tools and languages you used to produce the outputs</a:t>
            </a:r>
            <a:r>
              <a:rPr lang="en-US" sz="2400" b="1" dirty="0"/>
              <a:t> </a:t>
            </a:r>
          </a:p>
          <a:p>
            <a:r>
              <a:rPr lang="en-US" sz="2400" b="1" dirty="0"/>
              <a:t>It must not contain code listing or user manual description.</a:t>
            </a:r>
            <a:endParaRPr lang="en-IE" sz="2400" b="1" dirty="0"/>
          </a:p>
        </p:txBody>
      </p:sp>
    </p:spTree>
    <p:extLst>
      <p:ext uri="{BB962C8B-B14F-4D97-AF65-F5344CB8AC3E}">
        <p14:creationId xmlns:p14="http://schemas.microsoft.com/office/powerpoint/2010/main" val="140478310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1545</TotalTime>
  <Words>412</Words>
  <Application>Microsoft Office PowerPoint</Application>
  <PresentationFormat>On-screen Show (4:3)</PresentationFormat>
  <Paragraphs>30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Calibri</vt:lpstr>
      <vt:lpstr>Courier New</vt:lpstr>
      <vt:lpstr>Office Theme</vt:lpstr>
      <vt:lpstr>PowerPoint Presentation</vt:lpstr>
      <vt:lpstr>Research Methodology</vt:lpstr>
      <vt:lpstr>Research Methodology</vt:lpstr>
      <vt:lpstr>Research Methodology</vt:lpstr>
      <vt:lpstr>Known Issues</vt:lpstr>
      <vt:lpstr>Design Specification</vt:lpstr>
      <vt:lpstr>Implementation/Solution Development </vt:lpstr>
    </vt:vector>
  </TitlesOfParts>
  <Company> 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Object Oriented Programming</dc:title>
  <dc:creator>Orla Lahart</dc:creator>
  <cp:lastModifiedBy>Cristina Hava Muntean</cp:lastModifiedBy>
  <cp:revision>31</cp:revision>
  <cp:lastPrinted>2011-01-17T13:05:52Z</cp:lastPrinted>
  <dcterms:created xsi:type="dcterms:W3CDTF">2011-01-17T12:51:36Z</dcterms:created>
  <dcterms:modified xsi:type="dcterms:W3CDTF">2023-09-25T01:19:42Z</dcterms:modified>
</cp:coreProperties>
</file>