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9" r:id="rId3"/>
    <p:sldId id="270" r:id="rId4"/>
    <p:sldId id="272" r:id="rId5"/>
    <p:sldId id="273" r:id="rId6"/>
    <p:sldId id="274" r:id="rId7"/>
    <p:sldId id="275" r:id="rId8"/>
    <p:sldId id="266" r:id="rId9"/>
    <p:sldId id="281" r:id="rId10"/>
    <p:sldId id="27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98"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D04A5-815C-4CCE-A819-F4E20D4198ED}" type="datetimeFigureOut">
              <a:rPr lang="en-IE" smtClean="0"/>
              <a:t>25/09/2023</a:t>
            </a:fld>
            <a:endParaRPr lang="en-I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EAAB52-69D5-4E9D-A38B-C9878A517FC8}" type="slidenum">
              <a:rPr lang="en-IE" smtClean="0"/>
              <a:t>‹#›</a:t>
            </a:fld>
            <a:endParaRPr lang="en-IE"/>
          </a:p>
        </p:txBody>
      </p:sp>
    </p:spTree>
    <p:extLst>
      <p:ext uri="{BB962C8B-B14F-4D97-AF65-F5344CB8AC3E}">
        <p14:creationId xmlns:p14="http://schemas.microsoft.com/office/powerpoint/2010/main" val="1388469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7CEAAB52-69D5-4E9D-A38B-C9878A517FC8}" type="slidenum">
              <a:rPr lang="en-IE" smtClean="0"/>
              <a:t>9</a:t>
            </a:fld>
            <a:endParaRPr lang="en-IE"/>
          </a:p>
        </p:txBody>
      </p:sp>
    </p:spTree>
    <p:extLst>
      <p:ext uri="{BB962C8B-B14F-4D97-AF65-F5344CB8AC3E}">
        <p14:creationId xmlns:p14="http://schemas.microsoft.com/office/powerpoint/2010/main" val="107199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514765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692652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696917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409B55CC-BC7B-42F9-895C-77ECBE377AAB}" type="datetimeFigureOut">
              <a:rPr lang="en-IE" smtClean="0"/>
              <a:t>25/09/2023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214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409B55CC-BC7B-42F9-895C-77ECBE377AAB}" type="datetimeFigureOut">
              <a:rPr lang="en-IE" smtClean="0"/>
              <a:t>25/09/2023</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54657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409B55CC-BC7B-42F9-895C-77ECBE377AAB}" type="datetimeFigureOut">
              <a:rPr lang="en-IE" smtClean="0"/>
              <a:t>25/09/2023</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759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9B55CC-BC7B-42F9-895C-77ECBE377AAB}" type="datetimeFigureOut">
              <a:rPr lang="en-IE" smtClean="0"/>
              <a:t>25/09/2023</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890387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9B55CC-BC7B-42F9-895C-77ECBE377AAB}" type="datetimeFigureOut">
              <a:rPr lang="en-IE" smtClean="0"/>
              <a:t>25/09/2023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2201423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9B55CC-BC7B-42F9-895C-77ECBE377AAB}" type="datetimeFigureOut">
              <a:rPr lang="en-IE" smtClean="0"/>
              <a:t>25/09/2023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68937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732041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25/09/2023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811343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9B55CC-BC7B-42F9-895C-77ECBE377AAB}" type="datetimeFigureOut">
              <a:rPr lang="en-IE" smtClean="0"/>
              <a:t>25/09/2023</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30BC68-17BA-4550-A90B-D05F7556F356}" type="slidenum">
              <a:rPr lang="en-IE" smtClean="0"/>
              <a:t>‹#›</a:t>
            </a:fld>
            <a:endParaRPr lang="en-IE"/>
          </a:p>
        </p:txBody>
      </p:sp>
    </p:spTree>
    <p:extLst>
      <p:ext uri="{BB962C8B-B14F-4D97-AF65-F5344CB8AC3E}">
        <p14:creationId xmlns:p14="http://schemas.microsoft.com/office/powerpoint/2010/main" val="2491737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GB" dirty="0">
                <a:solidFill>
                  <a:srgbClr val="0070C0"/>
                </a:solidFill>
              </a:rPr>
              <a:t>Literature Review</a:t>
            </a:r>
            <a:endParaRPr lang="en-IE" dirty="0">
              <a:solidFill>
                <a:srgbClr val="0070C0"/>
              </a:solidFill>
            </a:endParaRPr>
          </a:p>
        </p:txBody>
      </p:sp>
      <p:sp>
        <p:nvSpPr>
          <p:cNvPr id="2" name="Title 1">
            <a:extLst>
              <a:ext uri="{FF2B5EF4-FFF2-40B4-BE49-F238E27FC236}">
                <a16:creationId xmlns:a16="http://schemas.microsoft.com/office/drawing/2014/main" id="{02417E16-02E6-B2B9-F2B7-E1B6D6925CB0}"/>
              </a:ext>
            </a:extLst>
          </p:cNvPr>
          <p:cNvSpPr txBox="1">
            <a:spLocks/>
          </p:cNvSpPr>
          <p:nvPr/>
        </p:nvSpPr>
        <p:spPr>
          <a:xfrm>
            <a:off x="0" y="2276872"/>
            <a:ext cx="8964488" cy="1109985"/>
          </a:xfrm>
          <a:prstGeom prst="rect">
            <a:avLst/>
          </a:prstGeom>
        </p:spPr>
        <p:txBody>
          <a:bodyPr vert="horz" lIns="91440" tIns="45720" rIns="91440" bIns="45720" rtlCol="0" anchor="ctr">
            <a:normAutofit fontScale="85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GB" b="1" dirty="0">
                <a:solidFill>
                  <a:srgbClr val="0070C0"/>
                </a:solidFill>
              </a:rPr>
            </a:br>
            <a:r>
              <a:rPr lang="en-GB" b="1" dirty="0">
                <a:solidFill>
                  <a:srgbClr val="0070C0"/>
                </a:solidFill>
              </a:rPr>
              <a:t> MSc Research Project/Internship/</a:t>
            </a:r>
            <a:r>
              <a:rPr lang="en-GB" sz="4400" b="1" dirty="0">
                <a:solidFill>
                  <a:srgbClr val="0070C0"/>
                </a:solidFill>
              </a:rPr>
              <a:t> Practicum</a:t>
            </a:r>
            <a:endParaRPr lang="en-IE" b="1" dirty="0">
              <a:solidFill>
                <a:srgbClr val="0070C0"/>
              </a:solidFill>
            </a:endParaRPr>
          </a:p>
        </p:txBody>
      </p:sp>
    </p:spTree>
    <p:extLst>
      <p:ext uri="{BB962C8B-B14F-4D97-AF65-F5344CB8AC3E}">
        <p14:creationId xmlns:p14="http://schemas.microsoft.com/office/powerpoint/2010/main" val="747775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IE" altLang="en-US" dirty="0">
                <a:solidFill>
                  <a:srgbClr val="0070C0"/>
                </a:solidFill>
              </a:rPr>
              <a:t>Literature Review – Critique</a:t>
            </a:r>
          </a:p>
        </p:txBody>
      </p:sp>
      <p:sp>
        <p:nvSpPr>
          <p:cNvPr id="17411" name="Content Placeholder 2"/>
          <p:cNvSpPr>
            <a:spLocks noGrp="1"/>
          </p:cNvSpPr>
          <p:nvPr>
            <p:ph idx="1"/>
          </p:nvPr>
        </p:nvSpPr>
        <p:spPr>
          <a:xfrm>
            <a:off x="457200" y="1196752"/>
            <a:ext cx="8579296" cy="5400600"/>
          </a:xfrm>
        </p:spPr>
        <p:txBody>
          <a:bodyPr/>
          <a:lstStyle/>
          <a:p>
            <a:r>
              <a:rPr lang="en-US" altLang="en-US" sz="2200" b="1" dirty="0"/>
              <a:t>The process of critical evaluation lies at the heart of what we might call </a:t>
            </a:r>
            <a:r>
              <a:rPr lang="en-US" altLang="en-US" sz="2200" b="1" u="sng" dirty="0"/>
              <a:t>knowledge creation</a:t>
            </a:r>
            <a:r>
              <a:rPr lang="en-US" altLang="en-US" sz="2200" b="1" dirty="0"/>
              <a:t>. When researchers submit research papers to peer-reviewed journals in their fields, their papers are reviewed anonymously by other researchers, who critically assess each study in terms of</a:t>
            </a:r>
          </a:p>
          <a:p>
            <a:pPr lvl="1">
              <a:buFont typeface="Courier New" panose="02070309020205020404" pitchFamily="49" charset="0"/>
              <a:buChar char="o"/>
            </a:pPr>
            <a:r>
              <a:rPr lang="en-US" altLang="en-US" sz="2000" dirty="0"/>
              <a:t>The study’s contribution to knowledge, theory, or practice in a field</a:t>
            </a:r>
          </a:p>
          <a:p>
            <a:pPr lvl="1">
              <a:buFont typeface="Courier New" panose="02070309020205020404" pitchFamily="49" charset="0"/>
              <a:buChar char="o"/>
            </a:pPr>
            <a:r>
              <a:rPr lang="en-US" altLang="en-US" sz="2000" dirty="0"/>
              <a:t>The study’s research design and methodology</a:t>
            </a:r>
          </a:p>
          <a:p>
            <a:pPr lvl="1">
              <a:buFont typeface="Courier New" panose="02070309020205020404" pitchFamily="49" charset="0"/>
              <a:buChar char="o"/>
            </a:pPr>
            <a:r>
              <a:rPr lang="en-US" altLang="en-US" sz="2000" dirty="0"/>
              <a:t>The study’s findings, in particular, how they are presented and interpreted</a:t>
            </a:r>
          </a:p>
          <a:p>
            <a:pPr lvl="1">
              <a:buFont typeface="Courier New" panose="02070309020205020404" pitchFamily="49" charset="0"/>
              <a:buChar char="o"/>
            </a:pPr>
            <a:r>
              <a:rPr lang="en-US" altLang="en-US" sz="2000" dirty="0"/>
              <a:t>The researcher’s conclusions</a:t>
            </a:r>
          </a:p>
          <a:p>
            <a:pPr lvl="1">
              <a:buFont typeface="Courier New" panose="02070309020205020404" pitchFamily="49" charset="0"/>
              <a:buChar char="o"/>
            </a:pPr>
            <a:r>
              <a:rPr lang="en-US" altLang="en-US" sz="2000" dirty="0"/>
              <a:t>The writing quality, clarity, and style, and the organization of the information presented</a:t>
            </a:r>
          </a:p>
          <a:p>
            <a:r>
              <a:rPr lang="en-US" altLang="en-US" sz="2200" b="1" dirty="0"/>
              <a:t>If you are asked to write a critique of a research article, you should focus on these issues. You will also need to consider where and when the article was published and who wrote it. </a:t>
            </a:r>
            <a:endParaRPr lang="en-IE" altLang="en-US" sz="2200" b="1" dirty="0"/>
          </a:p>
        </p:txBody>
      </p:sp>
    </p:spTree>
    <p:extLst>
      <p:ext uri="{BB962C8B-B14F-4D97-AF65-F5344CB8AC3E}">
        <p14:creationId xmlns:p14="http://schemas.microsoft.com/office/powerpoint/2010/main" val="1759754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fontScale="90000"/>
          </a:bodyPr>
          <a:lstStyle/>
          <a:p>
            <a:r>
              <a:rPr lang="en-IE" altLang="en-US" dirty="0">
                <a:solidFill>
                  <a:srgbClr val="0070C0"/>
                </a:solidFill>
              </a:rPr>
              <a:t>Literature Review – Guidelines for Writing a Critique</a:t>
            </a:r>
          </a:p>
        </p:txBody>
      </p:sp>
      <p:sp>
        <p:nvSpPr>
          <p:cNvPr id="18435" name="Content Placeholder 2"/>
          <p:cNvSpPr>
            <a:spLocks noGrp="1"/>
          </p:cNvSpPr>
          <p:nvPr>
            <p:ph idx="1"/>
          </p:nvPr>
        </p:nvSpPr>
        <p:spPr>
          <a:xfrm>
            <a:off x="457200" y="1600200"/>
            <a:ext cx="8229600" cy="5141168"/>
          </a:xfrm>
        </p:spPr>
        <p:txBody>
          <a:bodyPr>
            <a:normAutofit/>
          </a:bodyPr>
          <a:lstStyle/>
          <a:p>
            <a:r>
              <a:rPr lang="en-US" altLang="en-US" sz="2200" b="1" dirty="0"/>
              <a:t>Begin your critique by identifying </a:t>
            </a:r>
          </a:p>
          <a:p>
            <a:pPr lvl="1">
              <a:buFont typeface="Courier New" panose="02070309020205020404" pitchFamily="49" charset="0"/>
              <a:buChar char="o"/>
            </a:pPr>
            <a:r>
              <a:rPr lang="en-US" altLang="en-US" sz="1800" dirty="0"/>
              <a:t> </a:t>
            </a:r>
            <a:r>
              <a:rPr lang="en-US" altLang="en-US" sz="2000" dirty="0"/>
              <a:t>the article’s title, </a:t>
            </a:r>
          </a:p>
          <a:p>
            <a:pPr lvl="1">
              <a:buFont typeface="Courier New" panose="02070309020205020404" pitchFamily="49" charset="0"/>
              <a:buChar char="o"/>
            </a:pPr>
            <a:r>
              <a:rPr lang="en-US" altLang="en-US" sz="2000" dirty="0"/>
              <a:t>author(s), </a:t>
            </a:r>
          </a:p>
          <a:p>
            <a:pPr lvl="1">
              <a:buFont typeface="Courier New" panose="02070309020205020404" pitchFamily="49" charset="0"/>
              <a:buChar char="o"/>
            </a:pPr>
            <a:r>
              <a:rPr lang="en-US" altLang="en-US" sz="2000" dirty="0"/>
              <a:t>date of publication</a:t>
            </a:r>
          </a:p>
          <a:p>
            <a:pPr lvl="1">
              <a:buFont typeface="Courier New" panose="02070309020205020404" pitchFamily="49" charset="0"/>
              <a:buChar char="o"/>
            </a:pPr>
            <a:r>
              <a:rPr lang="en-US" altLang="en-US" sz="2000" dirty="0"/>
              <a:t>Name of the journal ( or conference)</a:t>
            </a:r>
          </a:p>
          <a:p>
            <a:pPr lvl="1">
              <a:buFont typeface="Courier New" panose="02070309020205020404" pitchFamily="49" charset="0"/>
              <a:buChar char="o"/>
            </a:pPr>
            <a:r>
              <a:rPr lang="en-US" altLang="en-US" sz="2000" dirty="0"/>
              <a:t>other publications in which it appeared.</a:t>
            </a:r>
          </a:p>
          <a:p>
            <a:endParaRPr lang="en-US" altLang="en-US" sz="800" dirty="0"/>
          </a:p>
          <a:p>
            <a:r>
              <a:rPr lang="en-US" altLang="en-US" sz="2200" b="1" dirty="0"/>
              <a:t>You should also briefly describe the </a:t>
            </a:r>
            <a:r>
              <a:rPr lang="en-US" altLang="en-US" sz="2200" b="1" u="sng" dirty="0">
                <a:solidFill>
                  <a:srgbClr val="C00000"/>
                </a:solidFill>
              </a:rPr>
              <a:t>purpose</a:t>
            </a:r>
            <a:r>
              <a:rPr lang="en-US" altLang="en-US" sz="2200" b="1" dirty="0"/>
              <a:t> and nature of the study, the </a:t>
            </a:r>
            <a:r>
              <a:rPr lang="en-US" altLang="en-US" sz="2200" b="1" u="sng" dirty="0">
                <a:solidFill>
                  <a:srgbClr val="C00000"/>
                </a:solidFill>
              </a:rPr>
              <a:t>methods</a:t>
            </a:r>
            <a:r>
              <a:rPr lang="en-US" altLang="en-US" sz="2200" b="1" dirty="0"/>
              <a:t> used and the main results. You should also comment on any </a:t>
            </a:r>
            <a:r>
              <a:rPr lang="en-US" altLang="en-US" sz="2200" b="1" u="sng" dirty="0">
                <a:solidFill>
                  <a:srgbClr val="C00000"/>
                </a:solidFill>
              </a:rPr>
              <a:t>limitations</a:t>
            </a:r>
            <a:r>
              <a:rPr lang="en-US" altLang="en-US" sz="2200" b="1" dirty="0"/>
              <a:t> in the approach.</a:t>
            </a:r>
          </a:p>
          <a:p>
            <a:endParaRPr lang="en-US" altLang="en-US" sz="800" b="1" dirty="0"/>
          </a:p>
          <a:p>
            <a:r>
              <a:rPr lang="en-US" altLang="en-US" sz="2200" b="1" dirty="0"/>
              <a:t>If the paper was not published in a peer-reviewed journal, consider the credibility of the publication in which it appeared and the credentials (and possible biases) of the researchers.</a:t>
            </a:r>
          </a:p>
        </p:txBody>
      </p:sp>
    </p:spTree>
    <p:extLst>
      <p:ext uri="{BB962C8B-B14F-4D97-AF65-F5344CB8AC3E}">
        <p14:creationId xmlns:p14="http://schemas.microsoft.com/office/powerpoint/2010/main" val="1471852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fontScale="90000"/>
          </a:bodyPr>
          <a:lstStyle/>
          <a:p>
            <a:r>
              <a:rPr lang="en-IE" altLang="en-US" dirty="0">
                <a:solidFill>
                  <a:srgbClr val="0070C0"/>
                </a:solidFill>
              </a:rPr>
              <a:t>Literature Review – Guidelines for Writing a Critique</a:t>
            </a:r>
            <a:endParaRPr lang="en-IE" altLang="en-US" dirty="0"/>
          </a:p>
        </p:txBody>
      </p:sp>
      <p:sp>
        <p:nvSpPr>
          <p:cNvPr id="20483" name="Content Placeholder 2"/>
          <p:cNvSpPr>
            <a:spLocks noGrp="1"/>
          </p:cNvSpPr>
          <p:nvPr>
            <p:ph idx="1"/>
          </p:nvPr>
        </p:nvSpPr>
        <p:spPr>
          <a:xfrm>
            <a:off x="0" y="1600200"/>
            <a:ext cx="9144000" cy="4853136"/>
          </a:xfrm>
        </p:spPr>
        <p:txBody>
          <a:bodyPr>
            <a:normAutofit/>
          </a:bodyPr>
          <a:lstStyle/>
          <a:p>
            <a:r>
              <a:rPr lang="en-US" altLang="en-US" sz="2200" b="1" dirty="0"/>
              <a:t>Use headings to structure your critique. In each section, provide enough descriptive information so that your review will be clear to a reader who may not have read the study. </a:t>
            </a:r>
          </a:p>
          <a:p>
            <a:r>
              <a:rPr lang="en-US" altLang="en-US" sz="2200" b="1" dirty="0"/>
              <a:t>Aim for an objective, balanced, and well supported critique</a:t>
            </a:r>
            <a:r>
              <a:rPr lang="en-US" altLang="en-US" sz="2200" dirty="0"/>
              <a:t>. </a:t>
            </a:r>
          </a:p>
          <a:p>
            <a:pPr marL="457200" lvl="1" indent="0">
              <a:buNone/>
            </a:pPr>
            <a:r>
              <a:rPr lang="en-US" altLang="en-US" sz="2000" dirty="0" err="1"/>
              <a:t>Polit</a:t>
            </a:r>
            <a:r>
              <a:rPr lang="en-US" altLang="en-US" sz="2000" dirty="0"/>
              <a:t> and Beck (2008) advise: </a:t>
            </a:r>
          </a:p>
          <a:p>
            <a:pPr lvl="1">
              <a:buFont typeface="Courier New" panose="02070309020205020404" pitchFamily="49" charset="0"/>
              <a:buChar char="o"/>
            </a:pPr>
            <a:r>
              <a:rPr lang="en-US" altLang="en-US" sz="2000" dirty="0"/>
              <a:t>Balance your analysis to include both strengths and weakness </a:t>
            </a:r>
          </a:p>
          <a:p>
            <a:pPr lvl="1">
              <a:buFont typeface="Courier New" panose="02070309020205020404" pitchFamily="49" charset="0"/>
              <a:buChar char="o"/>
            </a:pPr>
            <a:r>
              <a:rPr lang="en-US" altLang="en-US" sz="2000" dirty="0"/>
              <a:t>Justify your criticism by giving examples of the study’s weaknesses and strengths </a:t>
            </a:r>
          </a:p>
          <a:p>
            <a:r>
              <a:rPr lang="en-US" altLang="en-US" sz="2200" b="1" dirty="0"/>
              <a:t>Conclude your analysis by briefly </a:t>
            </a:r>
            <a:r>
              <a:rPr lang="en-US" altLang="en-US" sz="2200" b="1" u="sng" dirty="0"/>
              <a:t>summing up the </a:t>
            </a:r>
            <a:r>
              <a:rPr lang="en-US" altLang="en-US" sz="2200" b="1" u="sng" dirty="0">
                <a:solidFill>
                  <a:srgbClr val="C00000"/>
                </a:solidFill>
              </a:rPr>
              <a:t>strengths</a:t>
            </a:r>
            <a:r>
              <a:rPr lang="en-US" altLang="en-US" sz="2200" b="1" u="sng" dirty="0"/>
              <a:t> and </a:t>
            </a:r>
            <a:r>
              <a:rPr lang="en-US" altLang="en-US" sz="2200" b="1" u="sng" dirty="0">
                <a:solidFill>
                  <a:srgbClr val="C00000"/>
                </a:solidFill>
              </a:rPr>
              <a:t>weaknesses</a:t>
            </a:r>
            <a:r>
              <a:rPr lang="en-US" altLang="en-US" sz="2200" b="1" u="sng" dirty="0"/>
              <a:t> of the study </a:t>
            </a:r>
            <a:r>
              <a:rPr lang="en-US" altLang="en-US" sz="2200" b="1" dirty="0"/>
              <a:t>and by </a:t>
            </a:r>
            <a:r>
              <a:rPr lang="en-US" altLang="en-US" sz="2200" b="1" u="sng" dirty="0">
                <a:solidFill>
                  <a:srgbClr val="C00000"/>
                </a:solidFill>
              </a:rPr>
              <a:t>assessing its contribution </a:t>
            </a:r>
            <a:r>
              <a:rPr lang="en-US" altLang="en-US" sz="2200" b="1" dirty="0"/>
              <a:t>to the advancement of knowledge, theory, or practice. </a:t>
            </a:r>
          </a:p>
          <a:p>
            <a:r>
              <a:rPr lang="en-US" altLang="en-US" sz="2200" b="1" dirty="0"/>
              <a:t>Consider suggesting research directions and methodological considerations for future researchers</a:t>
            </a:r>
          </a:p>
        </p:txBody>
      </p:sp>
    </p:spTree>
    <p:extLst>
      <p:ext uri="{BB962C8B-B14F-4D97-AF65-F5344CB8AC3E}">
        <p14:creationId xmlns:p14="http://schemas.microsoft.com/office/powerpoint/2010/main" val="551676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ormAutofit fontScale="90000"/>
          </a:bodyPr>
          <a:lstStyle/>
          <a:p>
            <a:r>
              <a:rPr lang="en-IE" altLang="en-US" dirty="0">
                <a:solidFill>
                  <a:srgbClr val="0070C0"/>
                </a:solidFill>
              </a:rPr>
              <a:t>Literature Review – Guidelines for Writing a Critique</a:t>
            </a:r>
            <a:endParaRPr lang="en-IE" altLang="en-US" dirty="0"/>
          </a:p>
        </p:txBody>
      </p:sp>
      <p:sp>
        <p:nvSpPr>
          <p:cNvPr id="21507" name="Content Placeholder 2"/>
          <p:cNvSpPr>
            <a:spLocks noGrp="1"/>
          </p:cNvSpPr>
          <p:nvPr>
            <p:ph idx="1"/>
          </p:nvPr>
        </p:nvSpPr>
        <p:spPr>
          <a:xfrm>
            <a:off x="0" y="1600200"/>
            <a:ext cx="9144000" cy="4525963"/>
          </a:xfrm>
        </p:spPr>
        <p:txBody>
          <a:bodyPr/>
          <a:lstStyle/>
          <a:p>
            <a:endParaRPr lang="en-IE" altLang="en-US" dirty="0"/>
          </a:p>
          <a:p>
            <a:r>
              <a:rPr lang="en-US" altLang="en-US" sz="2200" b="1" dirty="0"/>
              <a:t>Use past or present tense consistently whenever you refer to completed research. Check if your discipline has a preference. </a:t>
            </a:r>
          </a:p>
          <a:p>
            <a:r>
              <a:rPr lang="en-US" altLang="en-US" sz="2200" b="1" dirty="0"/>
              <a:t>Use a standard citation style (e.g., IEEE, HARVARD, APA, MLA, or Chicago/Turabian) to format references in your critique and be sure to cite page numbers for all quoted passages. </a:t>
            </a:r>
          </a:p>
        </p:txBody>
      </p:sp>
    </p:spTree>
    <p:extLst>
      <p:ext uri="{BB962C8B-B14F-4D97-AF65-F5344CB8AC3E}">
        <p14:creationId xmlns:p14="http://schemas.microsoft.com/office/powerpoint/2010/main" val="2167616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0" y="188640"/>
            <a:ext cx="9144000" cy="936104"/>
          </a:xfrm>
        </p:spPr>
        <p:txBody>
          <a:bodyPr>
            <a:noAutofit/>
          </a:bodyPr>
          <a:lstStyle/>
          <a:p>
            <a:r>
              <a:rPr lang="en-IE" altLang="en-US" sz="3800" dirty="0">
                <a:solidFill>
                  <a:srgbClr val="0070C0"/>
                </a:solidFill>
              </a:rPr>
              <a:t>Elements of a Research Critique and Questions to Consider Writing a Critique</a:t>
            </a:r>
          </a:p>
        </p:txBody>
      </p:sp>
      <p:pic>
        <p:nvPicPr>
          <p:cNvPr id="22531"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l="12561" t="25652" r="65169" b="21225"/>
          <a:stretch>
            <a:fillRect/>
          </a:stretch>
        </p:blipFill>
        <p:spPr>
          <a:xfrm>
            <a:off x="755576" y="1288239"/>
            <a:ext cx="7920880" cy="5654547"/>
          </a:xfrm>
        </p:spPr>
      </p:pic>
    </p:spTree>
    <p:extLst>
      <p:ext uri="{BB962C8B-B14F-4D97-AF65-F5344CB8AC3E}">
        <p14:creationId xmlns:p14="http://schemas.microsoft.com/office/powerpoint/2010/main" val="3361500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solidFill>
                  <a:srgbClr val="0070C0"/>
                </a:solidFill>
              </a:rPr>
              <a:t>Literature Review (1) </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8264" y="0"/>
            <a:ext cx="1287587" cy="1287587"/>
          </a:xfrm>
        </p:spPr>
      </p:pic>
      <p:sp>
        <p:nvSpPr>
          <p:cNvPr id="6" name="Content Placeholder 2"/>
          <p:cNvSpPr txBox="1">
            <a:spLocks/>
          </p:cNvSpPr>
          <p:nvPr/>
        </p:nvSpPr>
        <p:spPr>
          <a:xfrm>
            <a:off x="179512" y="1287587"/>
            <a:ext cx="8507288" cy="5453781"/>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t>You are expected to </a:t>
            </a:r>
            <a:r>
              <a:rPr lang="en-US" sz="2400" b="1" u="sng" dirty="0">
                <a:solidFill>
                  <a:srgbClr val="C00000"/>
                </a:solidFill>
              </a:rPr>
              <a:t>provide a critical/analytic overview</a:t>
            </a:r>
            <a:r>
              <a:rPr lang="en-US" sz="2400" b="1" dirty="0"/>
              <a:t> of the significant literature published on your topic.</a:t>
            </a:r>
          </a:p>
          <a:p>
            <a:r>
              <a:rPr lang="en-US" sz="2400" b="1" dirty="0"/>
              <a:t>Please note: If your target audience knows more than you do, your purpose is to demonstrate familiarity, expertise, and intelligence with the topic.</a:t>
            </a:r>
          </a:p>
          <a:p>
            <a:pPr marL="0" indent="0">
              <a:buNone/>
            </a:pPr>
            <a:endParaRPr lang="en-US" sz="2400" dirty="0"/>
          </a:p>
          <a:p>
            <a:r>
              <a:rPr lang="en-US" sz="2400" b="1" dirty="0"/>
              <a:t>In your review of literature, you are expected to do the following:</a:t>
            </a:r>
            <a:endParaRPr lang="en-US" sz="2400" dirty="0"/>
          </a:p>
          <a:p>
            <a:pPr lvl="1">
              <a:buFont typeface="Courier New" panose="02070309020205020404" pitchFamily="49" charset="0"/>
              <a:buChar char="o"/>
            </a:pPr>
            <a:r>
              <a:rPr lang="en-US" sz="2200" dirty="0"/>
              <a:t>Place one's original work in the context of existing literature.</a:t>
            </a:r>
          </a:p>
          <a:p>
            <a:pPr lvl="1">
              <a:buFont typeface="Courier New" panose="02070309020205020404" pitchFamily="49" charset="0"/>
              <a:buChar char="o"/>
            </a:pPr>
            <a:r>
              <a:rPr lang="en-US" sz="2200" dirty="0"/>
              <a:t>Interpret the major issues surrounding your topic.</a:t>
            </a:r>
          </a:p>
          <a:p>
            <a:pPr lvl="1">
              <a:buFont typeface="Courier New" panose="02070309020205020404" pitchFamily="49" charset="0"/>
              <a:buChar char="o"/>
            </a:pPr>
            <a:r>
              <a:rPr lang="en-US" sz="2200" dirty="0"/>
              <a:t>Describe the relationship of each work to the others under consideration.</a:t>
            </a:r>
          </a:p>
          <a:p>
            <a:pPr lvl="1">
              <a:buFont typeface="Courier New" panose="02070309020205020404" pitchFamily="49" charset="0"/>
              <a:buChar char="o"/>
            </a:pPr>
            <a:r>
              <a:rPr lang="en-US" sz="2200" dirty="0"/>
              <a:t>Identify new ways to interpret and shed light on any gaps in previous research.</a:t>
            </a:r>
          </a:p>
          <a:p>
            <a:pPr lvl="1">
              <a:buFont typeface="Courier New" panose="02070309020205020404" pitchFamily="49" charset="0"/>
              <a:buChar char="o"/>
            </a:pPr>
            <a:r>
              <a:rPr lang="en-US" sz="2200" dirty="0"/>
              <a:t>Resolve conflicts among seemingly contradictory previous studies.</a:t>
            </a:r>
          </a:p>
          <a:p>
            <a:pPr lvl="1">
              <a:buFont typeface="Courier New" panose="02070309020205020404" pitchFamily="49" charset="0"/>
              <a:buChar char="o"/>
            </a:pPr>
            <a:r>
              <a:rPr lang="en-US" sz="2200" dirty="0"/>
              <a:t>Determine which literature makes a significant contribution to the understanding of your topic.</a:t>
            </a:r>
          </a:p>
          <a:p>
            <a:pPr lvl="1">
              <a:buFont typeface="Courier New" panose="02070309020205020404" pitchFamily="49" charset="0"/>
              <a:buChar char="o"/>
            </a:pPr>
            <a:r>
              <a:rPr lang="en-US" sz="2200" dirty="0"/>
              <a:t>Point the </a:t>
            </a:r>
            <a:r>
              <a:rPr lang="en-US" sz="2000" dirty="0"/>
              <a:t>way to further research on your topic.</a:t>
            </a:r>
          </a:p>
          <a:p>
            <a:endParaRPr lang="en-US" altLang="en-US" sz="2000" dirty="0"/>
          </a:p>
        </p:txBody>
      </p:sp>
    </p:spTree>
    <p:extLst>
      <p:ext uri="{BB962C8B-B14F-4D97-AF65-F5344CB8AC3E}">
        <p14:creationId xmlns:p14="http://schemas.microsoft.com/office/powerpoint/2010/main" val="1373837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solidFill>
                  <a:srgbClr val="0070C0"/>
                </a:solidFill>
              </a:rPr>
              <a:t>Literature Review (2)  </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8264" y="0"/>
            <a:ext cx="1287587" cy="1287587"/>
          </a:xfrm>
        </p:spPr>
      </p:pic>
      <p:sp>
        <p:nvSpPr>
          <p:cNvPr id="6" name="Content Placeholder 2"/>
          <p:cNvSpPr txBox="1">
            <a:spLocks/>
          </p:cNvSpPr>
          <p:nvPr/>
        </p:nvSpPr>
        <p:spPr>
          <a:xfrm>
            <a:off x="457200" y="1287587"/>
            <a:ext cx="8435280" cy="516574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E" sz="2200" b="1" dirty="0"/>
              <a:t>Use </a:t>
            </a:r>
            <a:r>
              <a:rPr lang="en-IE" sz="2200" b="1" u="sng" dirty="0">
                <a:solidFill>
                  <a:srgbClr val="C00000"/>
                </a:solidFill>
              </a:rPr>
              <a:t>focused searches</a:t>
            </a:r>
            <a:r>
              <a:rPr lang="en-IE" sz="2200" b="1" dirty="0"/>
              <a:t>. When you find a relevant paper follow the references in that paper to find other relevant papers.</a:t>
            </a:r>
            <a:endParaRPr lang="en-US" altLang="en-US" sz="2200" b="1" dirty="0"/>
          </a:p>
          <a:p>
            <a:r>
              <a:rPr lang="en-US" altLang="en-US" sz="2200" b="1" dirty="0"/>
              <a:t>If the paper is important, then describe it in a paragraph in the literature review; </a:t>
            </a:r>
          </a:p>
          <a:p>
            <a:pPr lvl="1"/>
            <a:r>
              <a:rPr lang="en-US" altLang="en-US" sz="2000" dirty="0"/>
              <a:t>One sentence on what the </a:t>
            </a:r>
            <a:r>
              <a:rPr lang="en-US" altLang="en-US" sz="2000" b="1" dirty="0"/>
              <a:t>approach</a:t>
            </a:r>
            <a:r>
              <a:rPr lang="en-US" altLang="en-US" sz="2000" dirty="0"/>
              <a:t> was</a:t>
            </a:r>
          </a:p>
          <a:p>
            <a:pPr lvl="1"/>
            <a:r>
              <a:rPr lang="en-US" altLang="en-US" sz="2000" dirty="0"/>
              <a:t>One sentence on what the </a:t>
            </a:r>
            <a:r>
              <a:rPr lang="en-US" altLang="en-US" sz="2000" b="1" dirty="0"/>
              <a:t>method</a:t>
            </a:r>
            <a:r>
              <a:rPr lang="en-US" altLang="en-US" sz="2000" dirty="0"/>
              <a:t> used was</a:t>
            </a:r>
          </a:p>
          <a:p>
            <a:pPr lvl="1"/>
            <a:r>
              <a:rPr lang="en-US" altLang="en-US" sz="2000" dirty="0"/>
              <a:t>One sentence on what the </a:t>
            </a:r>
            <a:r>
              <a:rPr lang="en-US" altLang="en-US" sz="2000" b="1" dirty="0"/>
              <a:t>results</a:t>
            </a:r>
            <a:r>
              <a:rPr lang="en-US" altLang="en-US" sz="2000" dirty="0"/>
              <a:t> were</a:t>
            </a:r>
          </a:p>
          <a:p>
            <a:r>
              <a:rPr lang="en-US" altLang="en-US" sz="2200" dirty="0"/>
              <a:t> </a:t>
            </a:r>
            <a:r>
              <a:rPr lang="en-IE" altLang="en-US" sz="2200" b="1" dirty="0"/>
              <a:t>C</a:t>
            </a:r>
            <a:r>
              <a:rPr lang="en-IE" sz="2200" b="1" dirty="0"/>
              <a:t>omment on the strength and weakness/limitation of work in each reviewed papers. Strengths are good practice and something you should aim to emulate, weakness/limitations provide an opportunity for you to improve on or extend their work. </a:t>
            </a:r>
          </a:p>
          <a:p>
            <a:endParaRPr lang="en-IE" sz="800" b="1" dirty="0"/>
          </a:p>
          <a:p>
            <a:r>
              <a:rPr lang="en-IE" sz="2200" b="1" dirty="0"/>
              <a:t>Check the future work section of each paper, it may provide you with ideas for your own work.</a:t>
            </a:r>
          </a:p>
        </p:txBody>
      </p:sp>
    </p:spTree>
    <p:extLst>
      <p:ext uri="{BB962C8B-B14F-4D97-AF65-F5344CB8AC3E}">
        <p14:creationId xmlns:p14="http://schemas.microsoft.com/office/powerpoint/2010/main" val="862401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solidFill>
                  <a:srgbClr val="0070C0"/>
                </a:solidFill>
              </a:rPr>
              <a:t>Literature Review (3)  </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48264" y="0"/>
            <a:ext cx="1287587" cy="1287587"/>
          </a:xfrm>
        </p:spPr>
      </p:pic>
      <p:sp>
        <p:nvSpPr>
          <p:cNvPr id="6" name="Content Placeholder 2"/>
          <p:cNvSpPr txBox="1">
            <a:spLocks/>
          </p:cNvSpPr>
          <p:nvPr/>
        </p:nvSpPr>
        <p:spPr>
          <a:xfrm>
            <a:off x="323528" y="1572773"/>
            <a:ext cx="8568952" cy="495257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200" b="1" dirty="0"/>
              <a:t>There will be many papers that are not as important. These can be grouped together as a type of an approach. </a:t>
            </a:r>
          </a:p>
          <a:p>
            <a:endParaRPr lang="en-US" altLang="en-US" sz="800" b="1" dirty="0"/>
          </a:p>
          <a:p>
            <a:r>
              <a:rPr lang="en-US" altLang="en-US" sz="2200" b="1" dirty="0"/>
              <a:t>An important paper has a lot of citations and was written by researchers that are famous in the field. Important papers set the trend in the field. </a:t>
            </a:r>
          </a:p>
          <a:p>
            <a:endParaRPr lang="en-US" altLang="en-US" sz="800" b="1" dirty="0"/>
          </a:p>
          <a:p>
            <a:r>
              <a:rPr lang="en-US" altLang="en-US" sz="2200" b="1" dirty="0"/>
              <a:t>Less important papers have a minor contribution to the research field</a:t>
            </a:r>
          </a:p>
          <a:p>
            <a:endParaRPr lang="en-US" altLang="en-US" sz="800" b="1" dirty="0"/>
          </a:p>
          <a:p>
            <a:r>
              <a:rPr lang="en-US" altLang="en-US" sz="2200" b="1" dirty="0"/>
              <a:t>The literature review should end in  a paragraph that </a:t>
            </a:r>
            <a:r>
              <a:rPr lang="en-US" altLang="en-US" sz="2200" b="1" dirty="0" err="1"/>
              <a:t>summarises</a:t>
            </a:r>
            <a:r>
              <a:rPr lang="en-US" altLang="en-US" sz="2200" b="1" dirty="0"/>
              <a:t> the findings from the state of the art, why the previous solution are not adequate and justifies the need for your research question:</a:t>
            </a:r>
          </a:p>
          <a:p>
            <a:pPr lvl="1">
              <a:buFont typeface="Courier New" panose="02070309020205020404" pitchFamily="49" charset="0"/>
              <a:buChar char="o"/>
            </a:pPr>
            <a:r>
              <a:rPr lang="en-US" altLang="en-US" sz="2000" dirty="0"/>
              <a:t>e.g. In conclusion, this problem is not solved because ….. A solution that addresses this problem is required. This research  proposes….</a:t>
            </a:r>
          </a:p>
          <a:p>
            <a:pPr lvl="1">
              <a:buFont typeface="Courier New" panose="02070309020205020404" pitchFamily="49" charset="0"/>
              <a:buChar char="o"/>
            </a:pPr>
            <a:endParaRPr lang="en-US" altLang="en-US" sz="2000" dirty="0"/>
          </a:p>
        </p:txBody>
      </p:sp>
    </p:spTree>
    <p:extLst>
      <p:ext uri="{BB962C8B-B14F-4D97-AF65-F5344CB8AC3E}">
        <p14:creationId xmlns:p14="http://schemas.microsoft.com/office/powerpoint/2010/main" val="2249428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solidFill>
                  <a:srgbClr val="0070C0"/>
                </a:solidFill>
              </a:rPr>
              <a:t>Literature Review (4) </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8264" y="0"/>
            <a:ext cx="1287587" cy="1287587"/>
          </a:xfrm>
        </p:spPr>
      </p:pic>
      <p:sp>
        <p:nvSpPr>
          <p:cNvPr id="6" name="Content Placeholder 2"/>
          <p:cNvSpPr txBox="1">
            <a:spLocks/>
          </p:cNvSpPr>
          <p:nvPr/>
        </p:nvSpPr>
        <p:spPr>
          <a:xfrm>
            <a:off x="251520" y="1417638"/>
            <a:ext cx="8435280" cy="5440362"/>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600" b="1" dirty="0"/>
              <a:t>Consider the following when assessing whether to include each work in your review of literature:</a:t>
            </a:r>
          </a:p>
          <a:p>
            <a:pPr lvl="1">
              <a:buFont typeface="Courier New" panose="02070309020205020404" pitchFamily="49" charset="0"/>
              <a:buChar char="o"/>
            </a:pPr>
            <a:r>
              <a:rPr lang="en-US" sz="2400" b="1" dirty="0"/>
              <a:t>Qualifications: </a:t>
            </a:r>
            <a:r>
              <a:rPr lang="en-US" sz="2400" dirty="0"/>
              <a:t>What are the author's credentials to make the judgments he or she has made?</a:t>
            </a:r>
          </a:p>
          <a:p>
            <a:pPr lvl="1">
              <a:buFont typeface="Courier New" panose="02070309020205020404" pitchFamily="49" charset="0"/>
              <a:buChar char="o"/>
            </a:pPr>
            <a:r>
              <a:rPr lang="en-US" sz="2400" b="1" dirty="0"/>
              <a:t>Neutrality:</a:t>
            </a:r>
            <a:r>
              <a:rPr lang="en-US" sz="2400" dirty="0"/>
              <a:t> Is the author's perspective even-handed or biased?</a:t>
            </a:r>
          </a:p>
          <a:p>
            <a:pPr lvl="1">
              <a:buFont typeface="Courier New" panose="02070309020205020404" pitchFamily="49" charset="0"/>
              <a:buChar char="o"/>
            </a:pPr>
            <a:r>
              <a:rPr lang="en-US" sz="2400" b="1" dirty="0"/>
              <a:t>Credibility:</a:t>
            </a:r>
            <a:r>
              <a:rPr lang="en-US" sz="2400" dirty="0"/>
              <a:t> Which of the author's theses are convincing and why?</a:t>
            </a:r>
          </a:p>
          <a:p>
            <a:pPr lvl="1">
              <a:buFont typeface="Courier New" panose="02070309020205020404" pitchFamily="49" charset="0"/>
              <a:buChar char="o"/>
            </a:pPr>
            <a:r>
              <a:rPr lang="en-US" sz="2400" b="1" dirty="0"/>
              <a:t>Worth:</a:t>
            </a:r>
            <a:r>
              <a:rPr lang="en-US" sz="2400" dirty="0"/>
              <a:t> Do the author's conclusions add to the value of your own?</a:t>
            </a:r>
          </a:p>
          <a:p>
            <a:pPr lvl="1">
              <a:buFont typeface="Courier New" panose="02070309020205020404" pitchFamily="49" charset="0"/>
              <a:buChar char="o"/>
            </a:pPr>
            <a:r>
              <a:rPr lang="en-US" sz="2400" b="1" dirty="0"/>
              <a:t>Quality of Paper</a:t>
            </a:r>
            <a:r>
              <a:rPr lang="en-US" sz="2400" dirty="0"/>
              <a:t>: Is it a reputable Journal mentioned in Scopus/Are the authors findings supported in the evaluation</a:t>
            </a:r>
          </a:p>
          <a:p>
            <a:pPr marL="0" indent="0">
              <a:buNone/>
            </a:pPr>
            <a:endParaRPr lang="en-US" sz="2000" dirty="0"/>
          </a:p>
          <a:p>
            <a:r>
              <a:rPr lang="en-US" sz="2600" b="1" dirty="0"/>
              <a:t>Please note your transitions between ideas analyze, synthesize, and assess these outside perspectives, and do not simply summarize or translate them</a:t>
            </a:r>
          </a:p>
          <a:p>
            <a:endParaRPr lang="en-US" sz="1000" b="1" dirty="0"/>
          </a:p>
          <a:p>
            <a:r>
              <a:rPr lang="en-US" sz="2600" b="1" dirty="0"/>
              <a:t>Your attitude towards works that you present, either in support or against your topic, through the use of reporting verbs which allow the writer to convey clearly whether the claims in the outside work are to be taken as accepted or not. </a:t>
            </a:r>
          </a:p>
          <a:p>
            <a:endParaRPr lang="en-US" sz="2600" dirty="0"/>
          </a:p>
        </p:txBody>
      </p:sp>
    </p:spTree>
    <p:extLst>
      <p:ext uri="{BB962C8B-B14F-4D97-AF65-F5344CB8AC3E}">
        <p14:creationId xmlns:p14="http://schemas.microsoft.com/office/powerpoint/2010/main" val="1304005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513</TotalTime>
  <Words>1028</Words>
  <Application>Microsoft Office PowerPoint</Application>
  <PresentationFormat>On-screen Show (4:3)</PresentationFormat>
  <Paragraphs>76</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Literature Review – Critique</vt:lpstr>
      <vt:lpstr>Literature Review – Guidelines for Writing a Critique</vt:lpstr>
      <vt:lpstr>Literature Review – Guidelines for Writing a Critique</vt:lpstr>
      <vt:lpstr>Literature Review – Guidelines for Writing a Critique</vt:lpstr>
      <vt:lpstr>Elements of a Research Critique and Questions to Consider Writing a Critique</vt:lpstr>
      <vt:lpstr>Literature Review (1) </vt:lpstr>
      <vt:lpstr>Literature Review (2)  </vt:lpstr>
      <vt:lpstr>Literature Review (3)  </vt:lpstr>
      <vt:lpstr>Literature Review (4) </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Orla Lahart</dc:creator>
  <cp:lastModifiedBy>Cristina Hava Muntean</cp:lastModifiedBy>
  <cp:revision>36</cp:revision>
  <cp:lastPrinted>2011-01-17T13:05:52Z</cp:lastPrinted>
  <dcterms:created xsi:type="dcterms:W3CDTF">2011-01-17T12:51:36Z</dcterms:created>
  <dcterms:modified xsi:type="dcterms:W3CDTF">2023-09-25T01:19:16Z</dcterms:modified>
</cp:coreProperties>
</file>